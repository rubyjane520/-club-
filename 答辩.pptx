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3"/>
    <p:sldId id="258" r:id="rId4"/>
    <p:sldId id="259" r:id="rId5"/>
    <p:sldId id="263" r:id="rId6"/>
    <p:sldId id="264" r:id="rId7"/>
    <p:sldId id="261" r:id="rId8"/>
    <p:sldId id="268" r:id="rId10"/>
    <p:sldId id="269" r:id="rId11"/>
    <p:sldId id="272" r:id="rId12"/>
    <p:sldId id="270" r:id="rId13"/>
    <p:sldId id="273" r:id="rId14"/>
    <p:sldId id="271" r:id="rId15"/>
    <p:sldId id="274" r:id="rId16"/>
    <p:sldId id="265" r:id="rId17"/>
    <p:sldId id="262" r:id="rId18"/>
    <p:sldId id="266" r:id="rId19"/>
    <p:sldId id="267" r:id="rId20"/>
    <p:sldId id="257" r:id="rId21"/>
  </p:sldIdLst>
  <p:sldSz cx="12192000" cy="6858000"/>
  <p:notesSz cx="6858000" cy="9144000"/>
  <p:embeddedFontLst>
    <p:embeddedFont>
      <p:font typeface="汉仪铸字木头人W" panose="00020600040101010101" pitchFamily="18" charset="-122"/>
      <p:regular r:id="rId25"/>
    </p:embeddedFont>
    <p:embeddedFont>
      <p:font typeface="微软雅黑" panose="020B0503020204020204" pitchFamily="34" charset="-122"/>
      <p:regular r:id="rId26"/>
      <p:bold r:id="rId27"/>
    </p:embeddedFont>
    <p:embeddedFont>
      <p:font typeface="微软雅黑 Light" panose="020B0502040204020203" pitchFamily="34" charset="-122"/>
      <p:regular r:id="rId28"/>
    </p:embeddedFont>
    <p:embeddedFont>
      <p:font typeface="Calibri" panose="020F0502020204030204"/>
      <p:regular r:id="rId29"/>
      <p:bold r:id="rId30"/>
      <p:italic r:id="rId31"/>
      <p:boldItalic r:id="rId32"/>
    </p:embeddedFont>
    <p:embeddedFont>
      <p:font typeface="等线" panose="02010600030101010101" charset="-122"/>
      <p:regular r:id="rId33"/>
      <p:bold r:id="rId34"/>
    </p:embeddedFont>
    <p:embeddedFont>
      <p:font typeface="等线 Light" panose="02010600030101010101" charset="-122"/>
      <p:regular r:id="rId3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21"/>
    <a:srgbClr val="FFC33E"/>
    <a:srgbClr val="E2E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font" Target="fonts/font11.fntdata"/><Relationship Id="rId34" Type="http://schemas.openxmlformats.org/officeDocument/2006/relationships/font" Target="fonts/font10.fntdata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4" Type="http://schemas.microsoft.com/office/2011/relationships/chartColorStyle" Target="colors4.xml"/><Relationship Id="rId3" Type="http://schemas.microsoft.com/office/2011/relationships/chartStyle" Target="style4.xml"/><Relationship Id="rId2" Type="http://schemas.openxmlformats.org/officeDocument/2006/relationships/themeOverride" Target="../theme/themeOverride2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4" Type="http://schemas.microsoft.com/office/2011/relationships/chartColorStyle" Target="colors5.xml"/><Relationship Id="rId3" Type="http://schemas.microsoft.com/office/2011/relationships/chartStyle" Target="style5.xml"/><Relationship Id="rId2" Type="http://schemas.openxmlformats.org/officeDocument/2006/relationships/themeOverride" Target="../theme/themeOverride3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A园区一日内不同时刻典型负荷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50640251268422"/>
          <c:y val="0.164683382915427"/>
          <c:w val="0.908359507127325"/>
          <c:h val="0.5835954101147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负荷（kw/h）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0.0374486590964001"/>
                  <c:y val="0.010624734381640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2080212611742"/>
                  <c:y val="0.027624309392265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507368929693163"/>
                  <c:y val="-0.038249043773905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338245953128775"/>
                  <c:y val="0.019124521886952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362406378352259"/>
                  <c:y val="-0.0042498937526561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-0.0302005315293549"/>
                  <c:y val="-0.063748406289842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-0.0314085527905291"/>
                  <c:y val="-0.0063748406289842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9"/>
              <c:layout>
                <c:manualLayout>
                  <c:x val="-0.0205363614399613"/>
                  <c:y val="-0.019124521886952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-0.0434887654022711"/>
                  <c:y val="0.025499362515937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-0.0471128291857937"/>
                  <c:y val="-0.002124946876328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2"/>
              <c:layout>
                <c:manualLayout>
                  <c:x val="-0.0229524039623097"/>
                  <c:y val="0.010624734381640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3"/>
              <c:layout>
                <c:manualLayout>
                  <c:x val="-0.0253684464846581"/>
                  <c:y val="-0.016999575010624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4"/>
              <c:layout>
                <c:manualLayout>
                  <c:x val="-0.0422807441410969"/>
                  <c:y val="0.014874628134296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5"/>
              <c:layout>
                <c:manualLayout>
                  <c:x val="-0.0157042763952646"/>
                  <c:y val="0.042498937526561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6"/>
              <c:layout>
                <c:manualLayout>
                  <c:x val="-0.0144962551340904"/>
                  <c:y val="-0.010624734381640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7"/>
              <c:layout>
                <c:manualLayout>
                  <c:x val="-0.0422807441410969"/>
                  <c:y val="0.0233744156396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8"/>
              <c:layout>
                <c:manualLayout>
                  <c:x val="-0.0302005315293549"/>
                  <c:y val="-0.0084997875053123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9"/>
              <c:layout>
                <c:manualLayout>
                  <c:x val="-0.0229524039623097"/>
                  <c:y val="0.027624309392265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0"/>
              <c:layout>
                <c:manualLayout>
                  <c:x val="-0.012080212611742"/>
                  <c:y val="-0.038249043773905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1"/>
              <c:layout>
                <c:manualLayout>
                  <c:x val="-0.0169122976564388"/>
                  <c:y val="0.044623884402889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2"/>
              <c:layout>
                <c:manualLayout>
                  <c:x val="0.00966417008939357"/>
                  <c:y val="-0.040373990650233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4"/>
              <c:layout>
                <c:manualLayout>
                  <c:x val="-0.0471128291857937"/>
                  <c:y val="0.07012324691882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Sheet1!$A$5:$A$29</c:f>
              <c:numCache>
                <c:formatCode>General</c:formatCode>
                <c:ptCount val="25"/>
                <c:pt idx="1" c:formatCode="h:mm;@">
                  <c:v>0</c:v>
                </c:pt>
                <c:pt idx="2" c:formatCode="h:mm;@">
                  <c:v>0.0416666666666667</c:v>
                </c:pt>
                <c:pt idx="3" c:formatCode="h:mm;@">
                  <c:v>0.0833333333333333</c:v>
                </c:pt>
                <c:pt idx="4" c:formatCode="h:mm;@">
                  <c:v>0.125</c:v>
                </c:pt>
                <c:pt idx="5" c:formatCode="h:mm;@">
                  <c:v>0.166666666666667</c:v>
                </c:pt>
                <c:pt idx="6" c:formatCode="h:mm;@">
                  <c:v>0.208333333333333</c:v>
                </c:pt>
                <c:pt idx="7" c:formatCode="h:mm;@">
                  <c:v>0.25</c:v>
                </c:pt>
                <c:pt idx="8" c:formatCode="h:mm;@">
                  <c:v>0.291666666666667</c:v>
                </c:pt>
                <c:pt idx="9" c:formatCode="h:mm;@">
                  <c:v>0.333333333333333</c:v>
                </c:pt>
                <c:pt idx="10" c:formatCode="h:mm;@">
                  <c:v>0.375</c:v>
                </c:pt>
                <c:pt idx="11" c:formatCode="h:mm;@">
                  <c:v>0.416666666666667</c:v>
                </c:pt>
                <c:pt idx="12" c:formatCode="h:mm;@">
                  <c:v>0.458333333333333</c:v>
                </c:pt>
                <c:pt idx="13" c:formatCode="h:mm;@">
                  <c:v>0.5</c:v>
                </c:pt>
                <c:pt idx="14" c:formatCode="h:mm;@">
                  <c:v>0.541666666666667</c:v>
                </c:pt>
                <c:pt idx="15" c:formatCode="h:mm;@">
                  <c:v>0.583333333333333</c:v>
                </c:pt>
                <c:pt idx="16" c:formatCode="h:mm;@">
                  <c:v>0.625</c:v>
                </c:pt>
                <c:pt idx="17" c:formatCode="h:mm;@">
                  <c:v>0.666666666666667</c:v>
                </c:pt>
                <c:pt idx="18" c:formatCode="h:mm;@">
                  <c:v>0.708333333333333</c:v>
                </c:pt>
                <c:pt idx="19" c:formatCode="h:mm;@">
                  <c:v>0.75</c:v>
                </c:pt>
                <c:pt idx="20" c:formatCode="h:mm;@">
                  <c:v>0.791666666666667</c:v>
                </c:pt>
                <c:pt idx="21" c:formatCode="h:mm;@">
                  <c:v>0.833333333333333</c:v>
                </c:pt>
                <c:pt idx="22" c:formatCode="h:mm;@">
                  <c:v>0.875</c:v>
                </c:pt>
                <c:pt idx="23" c:formatCode="h:mm;@">
                  <c:v>0.916666666666667</c:v>
                </c:pt>
                <c:pt idx="24" c:formatCode="h:mm;@">
                  <c:v>0.958333333333333</c:v>
                </c:pt>
              </c:numCache>
            </c:numRef>
          </c:cat>
          <c:val>
            <c:numRef>
              <c:f>Sheet1!$B$5:$B$29</c:f>
              <c:numCache>
                <c:formatCode>General</c:formatCode>
                <c:ptCount val="25"/>
                <c:pt idx="1" c:formatCode="0_ ">
                  <c:v>275</c:v>
                </c:pt>
                <c:pt idx="2" c:formatCode="0_ ">
                  <c:v>275</c:v>
                </c:pt>
                <c:pt idx="3" c:formatCode="0_ ">
                  <c:v>277</c:v>
                </c:pt>
                <c:pt idx="4" c:formatCode="0_ ">
                  <c:v>310</c:v>
                </c:pt>
                <c:pt idx="5" c:formatCode="0_ ">
                  <c:v>310</c:v>
                </c:pt>
                <c:pt idx="6" c:formatCode="0_ ">
                  <c:v>293</c:v>
                </c:pt>
                <c:pt idx="7" c:formatCode="0_ ">
                  <c:v>293</c:v>
                </c:pt>
                <c:pt idx="8" c:formatCode="0_ ">
                  <c:v>380</c:v>
                </c:pt>
                <c:pt idx="9" c:formatCode="0_ ">
                  <c:v>375</c:v>
                </c:pt>
                <c:pt idx="10" c:formatCode="0_ ">
                  <c:v>281</c:v>
                </c:pt>
                <c:pt idx="11" c:formatCode="0_ ">
                  <c:v>447</c:v>
                </c:pt>
                <c:pt idx="12" c:formatCode="0_ ">
                  <c:v>447</c:v>
                </c:pt>
                <c:pt idx="13" c:formatCode="0_ ">
                  <c:v>447</c:v>
                </c:pt>
                <c:pt idx="14" c:formatCode="0_ ">
                  <c:v>405</c:v>
                </c:pt>
                <c:pt idx="15" c:formatCode="0_ ">
                  <c:v>404</c:v>
                </c:pt>
                <c:pt idx="16" c:formatCode="0_ ">
                  <c:v>403</c:v>
                </c:pt>
                <c:pt idx="17" c:formatCode="0_ ">
                  <c:v>268</c:v>
                </c:pt>
                <c:pt idx="18" c:formatCode="0_ ">
                  <c:v>313</c:v>
                </c:pt>
                <c:pt idx="19" c:formatCode="0_ ">
                  <c:v>287</c:v>
                </c:pt>
                <c:pt idx="20" c:formatCode="0_ ">
                  <c:v>288</c:v>
                </c:pt>
                <c:pt idx="21" c:formatCode="0_ ">
                  <c:v>284</c:v>
                </c:pt>
                <c:pt idx="22" c:formatCode="0_ ">
                  <c:v>287</c:v>
                </c:pt>
                <c:pt idx="23" c:formatCode="0_ ">
                  <c:v>277</c:v>
                </c:pt>
                <c:pt idx="24" c:formatCode="0_ ">
                  <c:v>275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Sheet1!$A$5:$A$29</c:f>
              <c:numCache>
                <c:formatCode>General</c:formatCode>
                <c:ptCount val="25"/>
                <c:pt idx="1" c:formatCode="h:mm;@">
                  <c:v>0</c:v>
                </c:pt>
                <c:pt idx="2" c:formatCode="h:mm;@">
                  <c:v>0.0416666666666667</c:v>
                </c:pt>
                <c:pt idx="3" c:formatCode="h:mm;@">
                  <c:v>0.0833333333333333</c:v>
                </c:pt>
                <c:pt idx="4" c:formatCode="h:mm;@">
                  <c:v>0.125</c:v>
                </c:pt>
                <c:pt idx="5" c:formatCode="h:mm;@">
                  <c:v>0.166666666666667</c:v>
                </c:pt>
                <c:pt idx="6" c:formatCode="h:mm;@">
                  <c:v>0.208333333333333</c:v>
                </c:pt>
                <c:pt idx="7" c:formatCode="h:mm;@">
                  <c:v>0.25</c:v>
                </c:pt>
                <c:pt idx="8" c:formatCode="h:mm;@">
                  <c:v>0.291666666666667</c:v>
                </c:pt>
                <c:pt idx="9" c:formatCode="h:mm;@">
                  <c:v>0.333333333333333</c:v>
                </c:pt>
                <c:pt idx="10" c:formatCode="h:mm;@">
                  <c:v>0.375</c:v>
                </c:pt>
                <c:pt idx="11" c:formatCode="h:mm;@">
                  <c:v>0.416666666666667</c:v>
                </c:pt>
                <c:pt idx="12" c:formatCode="h:mm;@">
                  <c:v>0.458333333333333</c:v>
                </c:pt>
                <c:pt idx="13" c:formatCode="h:mm;@">
                  <c:v>0.5</c:v>
                </c:pt>
                <c:pt idx="14" c:formatCode="h:mm;@">
                  <c:v>0.541666666666667</c:v>
                </c:pt>
                <c:pt idx="15" c:formatCode="h:mm;@">
                  <c:v>0.583333333333333</c:v>
                </c:pt>
                <c:pt idx="16" c:formatCode="h:mm;@">
                  <c:v>0.625</c:v>
                </c:pt>
                <c:pt idx="17" c:formatCode="h:mm;@">
                  <c:v>0.666666666666667</c:v>
                </c:pt>
                <c:pt idx="18" c:formatCode="h:mm;@">
                  <c:v>0.708333333333333</c:v>
                </c:pt>
                <c:pt idx="19" c:formatCode="h:mm;@">
                  <c:v>0.75</c:v>
                </c:pt>
                <c:pt idx="20" c:formatCode="h:mm;@">
                  <c:v>0.791666666666667</c:v>
                </c:pt>
                <c:pt idx="21" c:formatCode="h:mm;@">
                  <c:v>0.833333333333333</c:v>
                </c:pt>
                <c:pt idx="22" c:formatCode="h:mm;@">
                  <c:v>0.875</c:v>
                </c:pt>
                <c:pt idx="23" c:formatCode="h:mm;@">
                  <c:v>0.916666666666667</c:v>
                </c:pt>
                <c:pt idx="24" c:formatCode="h:mm;@">
                  <c:v>0.958333333333333</c:v>
                </c:pt>
              </c:numCache>
            </c:numRef>
          </c:cat>
          <c:val>
            <c:numRef>
              <c:f>Sheet1!$C$5:$C$29</c:f>
              <c:numCache>
                <c:formatCode>General</c:formatCode>
                <c:ptCount val="25"/>
                <c:pt idx="0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Sheet1!$A$5:$A$29</c:f>
              <c:numCache>
                <c:formatCode>General</c:formatCode>
                <c:ptCount val="25"/>
                <c:pt idx="1" c:formatCode="h:mm;@">
                  <c:v>0</c:v>
                </c:pt>
                <c:pt idx="2" c:formatCode="h:mm;@">
                  <c:v>0.0416666666666667</c:v>
                </c:pt>
                <c:pt idx="3" c:formatCode="h:mm;@">
                  <c:v>0.0833333333333333</c:v>
                </c:pt>
                <c:pt idx="4" c:formatCode="h:mm;@">
                  <c:v>0.125</c:v>
                </c:pt>
                <c:pt idx="5" c:formatCode="h:mm;@">
                  <c:v>0.166666666666667</c:v>
                </c:pt>
                <c:pt idx="6" c:formatCode="h:mm;@">
                  <c:v>0.208333333333333</c:v>
                </c:pt>
                <c:pt idx="7" c:formatCode="h:mm;@">
                  <c:v>0.25</c:v>
                </c:pt>
                <c:pt idx="8" c:formatCode="h:mm;@">
                  <c:v>0.291666666666667</c:v>
                </c:pt>
                <c:pt idx="9" c:formatCode="h:mm;@">
                  <c:v>0.333333333333333</c:v>
                </c:pt>
                <c:pt idx="10" c:formatCode="h:mm;@">
                  <c:v>0.375</c:v>
                </c:pt>
                <c:pt idx="11" c:formatCode="h:mm;@">
                  <c:v>0.416666666666667</c:v>
                </c:pt>
                <c:pt idx="12" c:formatCode="h:mm;@">
                  <c:v>0.458333333333333</c:v>
                </c:pt>
                <c:pt idx="13" c:formatCode="h:mm;@">
                  <c:v>0.5</c:v>
                </c:pt>
                <c:pt idx="14" c:formatCode="h:mm;@">
                  <c:v>0.541666666666667</c:v>
                </c:pt>
                <c:pt idx="15" c:formatCode="h:mm;@">
                  <c:v>0.583333333333333</c:v>
                </c:pt>
                <c:pt idx="16" c:formatCode="h:mm;@">
                  <c:v>0.625</c:v>
                </c:pt>
                <c:pt idx="17" c:formatCode="h:mm;@">
                  <c:v>0.666666666666667</c:v>
                </c:pt>
                <c:pt idx="18" c:formatCode="h:mm;@">
                  <c:v>0.708333333333333</c:v>
                </c:pt>
                <c:pt idx="19" c:formatCode="h:mm;@">
                  <c:v>0.75</c:v>
                </c:pt>
                <c:pt idx="20" c:formatCode="h:mm;@">
                  <c:v>0.791666666666667</c:v>
                </c:pt>
                <c:pt idx="21" c:formatCode="h:mm;@">
                  <c:v>0.833333333333333</c:v>
                </c:pt>
                <c:pt idx="22" c:formatCode="h:mm;@">
                  <c:v>0.875</c:v>
                </c:pt>
                <c:pt idx="23" c:formatCode="h:mm;@">
                  <c:v>0.916666666666667</c:v>
                </c:pt>
                <c:pt idx="24" c:formatCode="h:mm;@">
                  <c:v>0.958333333333333</c:v>
                </c:pt>
              </c:numCache>
            </c:numRef>
          </c:cat>
          <c:val>
            <c:numRef>
              <c:f>Sheet1!$D$5:$D$29</c:f>
              <c:numCache>
                <c:formatCode>General</c:formatCode>
                <c:ptCount val="25"/>
                <c:pt idx="0">
                  <c:v>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911348183"/>
        <c:axId val="917877425"/>
      </c:lineChart>
      <c:catAx>
        <c:axId val="91134818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17877425"/>
        <c:crosses val="autoZero"/>
        <c:auto val="1"/>
        <c:lblAlgn val="ctr"/>
        <c:lblOffset val="100"/>
        <c:noMultiLvlLbl val="0"/>
      </c:catAx>
      <c:valAx>
        <c:axId val="91787742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11348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2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1a4e08a-8259-415e-bfd3-7c42c18e356c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A园区一日内不同时刻光伏发电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发电量（p.u.）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layout>
                <c:manualLayout>
                  <c:x val="-0.0604010630587098"/>
                  <c:y val="-0.010624734381640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-0.018120318917613"/>
                  <c:y val="-0.010624734381640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-0.0302005315293549"/>
                  <c:y val="-0.025499362515937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2"/>
              <c:layout>
                <c:manualLayout>
                  <c:x val="0.00604010630587098"/>
                  <c:y val="0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Sheet1!$A$6:$A$29</c:f>
              <c:numCache>
                <c:formatCode>h:mm;@</c:formatCode>
                <c:ptCount val="24"/>
                <c:pt idx="0" c:formatCode="h:mm;@">
                  <c:v>0</c:v>
                </c:pt>
                <c:pt idx="1" c:formatCode="h:mm;@">
                  <c:v>0.0416666666666667</c:v>
                </c:pt>
                <c:pt idx="2" c:formatCode="h:mm;@">
                  <c:v>0.0833333333333333</c:v>
                </c:pt>
                <c:pt idx="3" c:formatCode="h:mm;@">
                  <c:v>0.125</c:v>
                </c:pt>
                <c:pt idx="4" c:formatCode="h:mm;@">
                  <c:v>0.166666666666667</c:v>
                </c:pt>
                <c:pt idx="5" c:formatCode="h:mm;@">
                  <c:v>0.208333333333333</c:v>
                </c:pt>
                <c:pt idx="6" c:formatCode="h:mm;@">
                  <c:v>0.25</c:v>
                </c:pt>
                <c:pt idx="7" c:formatCode="h:mm;@">
                  <c:v>0.291666666666667</c:v>
                </c:pt>
                <c:pt idx="8" c:formatCode="h:mm;@">
                  <c:v>0.333333333333333</c:v>
                </c:pt>
                <c:pt idx="9" c:formatCode="h:mm;@">
                  <c:v>0.375</c:v>
                </c:pt>
                <c:pt idx="10" c:formatCode="h:mm;@">
                  <c:v>0.416666666666667</c:v>
                </c:pt>
                <c:pt idx="11" c:formatCode="h:mm;@">
                  <c:v>0.458333333333333</c:v>
                </c:pt>
                <c:pt idx="12" c:formatCode="h:mm;@">
                  <c:v>0.5</c:v>
                </c:pt>
                <c:pt idx="13" c:formatCode="h:mm;@">
                  <c:v>0.541666666666667</c:v>
                </c:pt>
                <c:pt idx="14" c:formatCode="h:mm;@">
                  <c:v>0.583333333333333</c:v>
                </c:pt>
                <c:pt idx="15" c:formatCode="h:mm;@">
                  <c:v>0.625</c:v>
                </c:pt>
                <c:pt idx="16" c:formatCode="h:mm;@">
                  <c:v>0.666666666666667</c:v>
                </c:pt>
                <c:pt idx="17" c:formatCode="h:mm;@">
                  <c:v>0.708333333333333</c:v>
                </c:pt>
                <c:pt idx="18" c:formatCode="h:mm;@">
                  <c:v>0.75</c:v>
                </c:pt>
                <c:pt idx="19" c:formatCode="h:mm;@">
                  <c:v>0.791666666666667</c:v>
                </c:pt>
                <c:pt idx="20" c:formatCode="h:mm;@">
                  <c:v>0.833333333333333</c:v>
                </c:pt>
                <c:pt idx="21" c:formatCode="h:mm;@">
                  <c:v>0.875</c:v>
                </c:pt>
                <c:pt idx="22" c:formatCode="h:mm;@">
                  <c:v>0.916666666666667</c:v>
                </c:pt>
                <c:pt idx="23" c:formatCode="h:mm;@">
                  <c:v>0.958333333333333</c:v>
                </c:pt>
              </c:numCache>
            </c:numRef>
          </c:cat>
          <c:val>
            <c:numRef>
              <c:f>Sheet1!$D$6:$D$29</c:f>
              <c:numCache>
                <c:formatCode>0.0000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0.0058</c:v>
                </c:pt>
                <c:pt idx="8">
                  <c:v>0.3026</c:v>
                </c:pt>
                <c:pt idx="9">
                  <c:v>0.602</c:v>
                </c:pt>
                <c:pt idx="10">
                  <c:v>0.7711</c:v>
                </c:pt>
                <c:pt idx="11">
                  <c:v>0.8555</c:v>
                </c:pt>
                <c:pt idx="12">
                  <c:v>0.8531</c:v>
                </c:pt>
                <c:pt idx="13">
                  <c:v>0.7842</c:v>
                </c:pt>
                <c:pt idx="14">
                  <c:v>0.6437</c:v>
                </c:pt>
                <c:pt idx="15">
                  <c:v>0.4242</c:v>
                </c:pt>
                <c:pt idx="16">
                  <c:v>0.0619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471765385"/>
        <c:axId val="828397583"/>
      </c:lineChart>
      <c:catAx>
        <c:axId val="47176538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8397583"/>
        <c:crosses val="autoZero"/>
        <c:auto val="1"/>
        <c:lblAlgn val="ctr"/>
        <c:lblOffset val="100"/>
        <c:noMultiLvlLbl val="0"/>
      </c:catAx>
      <c:valAx>
        <c:axId val="828397583"/>
        <c:scaling>
          <c:orientation val="minMax"/>
        </c:scaling>
        <c:delete val="1"/>
        <c:axPos val="l"/>
        <c:numFmt formatCode="0.000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176538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fa47df5-1991-4bf0-b988-436a1bd2800f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08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/>
              <a:t>B</a:t>
            </a:r>
            <a:r>
              <a:rPr altLang="en-US"/>
              <a:t>园区一日内不同时刻典型负荷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负荷（kw/h)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1" i="0" u="none" strike="noStrike" kern="1200" baseline="0">
                    <a:solidFill>
                      <a:schemeClr val="accent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Sheet1!$A$6:$A$29</c:f>
              <c:numCache>
                <c:formatCode>h:mm;@</c:formatCode>
                <c:ptCount val="24"/>
                <c:pt idx="0" c:formatCode="h:mm;@">
                  <c:v>0</c:v>
                </c:pt>
                <c:pt idx="1" c:formatCode="h:mm;@">
                  <c:v>0.0416666666666667</c:v>
                </c:pt>
                <c:pt idx="2" c:formatCode="h:mm;@">
                  <c:v>0.0833333333333333</c:v>
                </c:pt>
                <c:pt idx="3" c:formatCode="h:mm;@">
                  <c:v>0.125</c:v>
                </c:pt>
                <c:pt idx="4" c:formatCode="h:mm;@">
                  <c:v>0.166666666666667</c:v>
                </c:pt>
                <c:pt idx="5" c:formatCode="h:mm;@">
                  <c:v>0.208333333333333</c:v>
                </c:pt>
                <c:pt idx="6" c:formatCode="h:mm;@">
                  <c:v>0.25</c:v>
                </c:pt>
                <c:pt idx="7" c:formatCode="h:mm;@">
                  <c:v>0.291666666666667</c:v>
                </c:pt>
                <c:pt idx="8" c:formatCode="h:mm;@">
                  <c:v>0.333333333333333</c:v>
                </c:pt>
                <c:pt idx="9" c:formatCode="h:mm;@">
                  <c:v>0.375</c:v>
                </c:pt>
                <c:pt idx="10" c:formatCode="h:mm;@">
                  <c:v>0.416666666666667</c:v>
                </c:pt>
                <c:pt idx="11" c:formatCode="h:mm;@">
                  <c:v>0.458333333333333</c:v>
                </c:pt>
                <c:pt idx="12" c:formatCode="h:mm;@">
                  <c:v>0.5</c:v>
                </c:pt>
                <c:pt idx="13" c:formatCode="h:mm;@">
                  <c:v>0.541666666666667</c:v>
                </c:pt>
                <c:pt idx="14" c:formatCode="h:mm;@">
                  <c:v>0.583333333333333</c:v>
                </c:pt>
                <c:pt idx="15" c:formatCode="h:mm;@">
                  <c:v>0.625</c:v>
                </c:pt>
                <c:pt idx="16" c:formatCode="h:mm;@">
                  <c:v>0.666666666666667</c:v>
                </c:pt>
                <c:pt idx="17" c:formatCode="h:mm;@">
                  <c:v>0.708333333333333</c:v>
                </c:pt>
                <c:pt idx="18" c:formatCode="h:mm;@">
                  <c:v>0.75</c:v>
                </c:pt>
                <c:pt idx="19" c:formatCode="h:mm;@">
                  <c:v>0.791666666666667</c:v>
                </c:pt>
                <c:pt idx="20" c:formatCode="h:mm;@">
                  <c:v>0.833333333333333</c:v>
                </c:pt>
                <c:pt idx="21" c:formatCode="h:mm;@">
                  <c:v>0.875</c:v>
                </c:pt>
                <c:pt idx="22" c:formatCode="h:mm;@">
                  <c:v>0.916666666666667</c:v>
                </c:pt>
                <c:pt idx="23" c:formatCode="h:mm;@">
                  <c:v>0.958333333333333</c:v>
                </c:pt>
              </c:numCache>
            </c:numRef>
          </c:cat>
          <c:val>
            <c:numRef>
              <c:f>Sheet1!$D$6:$D$29</c:f>
              <c:numCache>
                <c:formatCode>0_ </c:formatCode>
                <c:ptCount val="24"/>
                <c:pt idx="0">
                  <c:v>241</c:v>
                </c:pt>
                <c:pt idx="1">
                  <c:v>253</c:v>
                </c:pt>
                <c:pt idx="2">
                  <c:v>329</c:v>
                </c:pt>
                <c:pt idx="3">
                  <c:v>315</c:v>
                </c:pt>
                <c:pt idx="4">
                  <c:v>290</c:v>
                </c:pt>
                <c:pt idx="5">
                  <c:v>270</c:v>
                </c:pt>
                <c:pt idx="6">
                  <c:v>307</c:v>
                </c:pt>
                <c:pt idx="7">
                  <c:v>354</c:v>
                </c:pt>
                <c:pt idx="8">
                  <c:v>264</c:v>
                </c:pt>
                <c:pt idx="9">
                  <c:v>315</c:v>
                </c:pt>
                <c:pt idx="10">
                  <c:v>313</c:v>
                </c:pt>
                <c:pt idx="11">
                  <c:v>291</c:v>
                </c:pt>
                <c:pt idx="12">
                  <c:v>360</c:v>
                </c:pt>
                <c:pt idx="13">
                  <c:v>369</c:v>
                </c:pt>
                <c:pt idx="14">
                  <c:v>389</c:v>
                </c:pt>
                <c:pt idx="15">
                  <c:v>419</c:v>
                </c:pt>
                <c:pt idx="16">
                  <c:v>412</c:v>
                </c:pt>
                <c:pt idx="17">
                  <c:v>291</c:v>
                </c:pt>
                <c:pt idx="18">
                  <c:v>379</c:v>
                </c:pt>
                <c:pt idx="19">
                  <c:v>303</c:v>
                </c:pt>
                <c:pt idx="20">
                  <c:v>331</c:v>
                </c:pt>
                <c:pt idx="21">
                  <c:v>306</c:v>
                </c:pt>
                <c:pt idx="22">
                  <c:v>285</c:v>
                </c:pt>
                <c:pt idx="23">
                  <c:v>324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round/>
            </a:ln>
            <a:effectLst/>
          </c:spPr>
        </c:dropLines>
        <c:marker val="0"/>
        <c:smooth val="0"/>
        <c:axId val="37741371"/>
        <c:axId val="487051556"/>
      </c:lineChart>
      <c:catAx>
        <c:axId val="377413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87051556"/>
        <c:crosses val="autoZero"/>
        <c:auto val="1"/>
        <c:lblAlgn val="ctr"/>
        <c:lblOffset val="100"/>
        <c:noMultiLvlLbl val="0"/>
      </c:catAx>
      <c:valAx>
        <c:axId val="487051556"/>
        <c:scaling>
          <c:orientation val="minMax"/>
        </c:scaling>
        <c:delete val="1"/>
        <c:axPos val="l"/>
        <c:numFmt formatCode="0_ 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377413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1f9ece2-d74f-40a5-b008-f13243847f88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9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08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/>
              <a:t>B</a:t>
            </a:r>
            <a:r>
              <a:rPr altLang="en-US"/>
              <a:t>园区一日内不同时刻风力发电</a:t>
            </a:r>
            <a:endParaRPr lang="en-US" altLang="zh-CN"/>
          </a:p>
        </c:rich>
      </c:tx>
      <c:layout>
        <c:manualLayout>
          <c:xMode val="edge"/>
          <c:yMode val="edge"/>
          <c:x val="0.322662478859628"/>
          <c:y val="0.021249468763280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/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1" i="0" u="none" strike="noStrike" kern="1200" baseline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Sheet1!$A$6:$A$29</c:f>
              <c:numCache>
                <c:formatCode>h:mm;@</c:formatCode>
                <c:ptCount val="24"/>
                <c:pt idx="0" c:formatCode="h:mm;@">
                  <c:v>0</c:v>
                </c:pt>
                <c:pt idx="1" c:formatCode="h:mm;@">
                  <c:v>0.0416666666666667</c:v>
                </c:pt>
                <c:pt idx="2" c:formatCode="h:mm;@">
                  <c:v>0.0833333333333333</c:v>
                </c:pt>
                <c:pt idx="3" c:formatCode="h:mm;@">
                  <c:v>0.125</c:v>
                </c:pt>
                <c:pt idx="4" c:formatCode="h:mm;@">
                  <c:v>0.166666666666667</c:v>
                </c:pt>
                <c:pt idx="5" c:formatCode="h:mm;@">
                  <c:v>0.208333333333333</c:v>
                </c:pt>
                <c:pt idx="6" c:formatCode="h:mm;@">
                  <c:v>0.25</c:v>
                </c:pt>
                <c:pt idx="7" c:formatCode="h:mm;@">
                  <c:v>0.291666666666667</c:v>
                </c:pt>
                <c:pt idx="8" c:formatCode="h:mm;@">
                  <c:v>0.333333333333333</c:v>
                </c:pt>
                <c:pt idx="9" c:formatCode="h:mm;@">
                  <c:v>0.375</c:v>
                </c:pt>
                <c:pt idx="10" c:formatCode="h:mm;@">
                  <c:v>0.416666666666667</c:v>
                </c:pt>
                <c:pt idx="11" c:formatCode="h:mm;@">
                  <c:v>0.458333333333333</c:v>
                </c:pt>
                <c:pt idx="12" c:formatCode="h:mm;@">
                  <c:v>0.5</c:v>
                </c:pt>
                <c:pt idx="13" c:formatCode="h:mm;@">
                  <c:v>0.541666666666667</c:v>
                </c:pt>
                <c:pt idx="14" c:formatCode="h:mm;@">
                  <c:v>0.583333333333333</c:v>
                </c:pt>
                <c:pt idx="15" c:formatCode="h:mm;@">
                  <c:v>0.625</c:v>
                </c:pt>
                <c:pt idx="16" c:formatCode="h:mm;@">
                  <c:v>0.666666666666667</c:v>
                </c:pt>
                <c:pt idx="17" c:formatCode="h:mm;@">
                  <c:v>0.708333333333333</c:v>
                </c:pt>
                <c:pt idx="18" c:formatCode="h:mm;@">
                  <c:v>0.75</c:v>
                </c:pt>
                <c:pt idx="19" c:formatCode="h:mm;@">
                  <c:v>0.791666666666667</c:v>
                </c:pt>
                <c:pt idx="20" c:formatCode="h:mm;@">
                  <c:v>0.833333333333333</c:v>
                </c:pt>
                <c:pt idx="21" c:formatCode="h:mm;@">
                  <c:v>0.875</c:v>
                </c:pt>
                <c:pt idx="22" c:formatCode="h:mm;@">
                  <c:v>0.916666666666667</c:v>
                </c:pt>
                <c:pt idx="23" c:formatCode="h:mm;@">
                  <c:v>0.958333333333333</c:v>
                </c:pt>
              </c:numCache>
            </c:numRef>
          </c:cat>
          <c:val>
            <c:numRef>
              <c:f>Sheet1!$C$6:$C$29</c:f>
              <c:numCache>
                <c:formatCode>0.0000</c:formatCode>
                <c:ptCount val="24"/>
                <c:pt idx="0">
                  <c:v>0.2301</c:v>
                </c:pt>
                <c:pt idx="1">
                  <c:v>0.3828</c:v>
                </c:pt>
                <c:pt idx="2">
                  <c:v>0.2968</c:v>
                </c:pt>
                <c:pt idx="3">
                  <c:v>0.4444</c:v>
                </c:pt>
                <c:pt idx="4">
                  <c:v>0.5029</c:v>
                </c:pt>
                <c:pt idx="5">
                  <c:v>0.3609</c:v>
                </c:pt>
                <c:pt idx="6">
                  <c:v>0.2402</c:v>
                </c:pt>
                <c:pt idx="7">
                  <c:v>0.0473</c:v>
                </c:pt>
                <c:pt idx="8">
                  <c:v>0.1538</c:v>
                </c:pt>
                <c:pt idx="9">
                  <c:v>0.1068</c:v>
                </c:pt>
                <c:pt idx="10">
                  <c:v>0.0518</c:v>
                </c:pt>
                <c:pt idx="11">
                  <c:v>0.2169</c:v>
                </c:pt>
                <c:pt idx="12">
                  <c:v>0.3546</c:v>
                </c:pt>
                <c:pt idx="13">
                  <c:v>0.2194</c:v>
                </c:pt>
                <c:pt idx="14">
                  <c:v>0.111</c:v>
                </c:pt>
                <c:pt idx="15">
                  <c:v>0.2186</c:v>
                </c:pt>
                <c:pt idx="16">
                  <c:v>0.3779</c:v>
                </c:pt>
                <c:pt idx="17">
                  <c:v>0.3421</c:v>
                </c:pt>
                <c:pt idx="18">
                  <c:v>0.5008</c:v>
                </c:pt>
                <c:pt idx="19">
                  <c:v>0.4646</c:v>
                </c:pt>
                <c:pt idx="20">
                  <c:v>0.2197</c:v>
                </c:pt>
                <c:pt idx="21">
                  <c:v>0.1783</c:v>
                </c:pt>
                <c:pt idx="22">
                  <c:v>0.1535</c:v>
                </c:pt>
                <c:pt idx="23">
                  <c:v>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round/>
            </a:ln>
            <a:effectLst/>
          </c:spPr>
        </c:dropLines>
        <c:marker val="0"/>
        <c:smooth val="0"/>
        <c:axId val="971085040"/>
        <c:axId val="93397205"/>
      </c:lineChart>
      <c:catAx>
        <c:axId val="97108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93397205"/>
        <c:crosses val="autoZero"/>
        <c:auto val="1"/>
        <c:lblAlgn val="ctr"/>
        <c:lblOffset val="100"/>
        <c:noMultiLvlLbl val="0"/>
      </c:catAx>
      <c:valAx>
        <c:axId val="93397205"/>
        <c:scaling>
          <c:orientation val="minMax"/>
        </c:scaling>
        <c:delete val="1"/>
        <c:axPos val="l"/>
        <c:numFmt formatCode="0.000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971085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ed0cc47-8cc2-48c7-81b3-540d832ff7ca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9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08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/>
              <a:t>C</a:t>
            </a:r>
            <a:r>
              <a:rPr altLang="en-US"/>
              <a:t>园区一日内不同时刻典型日负荷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86538023496796"/>
          <c:y val="0.149383765405865"/>
          <c:w val="0.967722133866798"/>
          <c:h val="0.752953676158096"/>
        </c:manualLayout>
      </c:layout>
      <c:lineChart>
        <c:grouping val="standar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负荷（kw/h)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22"/>
              <c:layout>
                <c:manualLayout>
                  <c:x val="-0.0157042763952646"/>
                  <c:y val="0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1" i="0" u="none" strike="noStrike" kern="1200" baseline="0">
                    <a:solidFill>
                      <a:schemeClr val="accent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Sheet1!$A$6:$A$29</c:f>
              <c:numCache>
                <c:formatCode>h:mm;@</c:formatCode>
                <c:ptCount val="24"/>
                <c:pt idx="0" c:formatCode="h:mm;@">
                  <c:v>0</c:v>
                </c:pt>
                <c:pt idx="1" c:formatCode="h:mm;@">
                  <c:v>0.0416666666666667</c:v>
                </c:pt>
                <c:pt idx="2" c:formatCode="h:mm;@">
                  <c:v>0.0833333333333333</c:v>
                </c:pt>
                <c:pt idx="3" c:formatCode="h:mm;@">
                  <c:v>0.125</c:v>
                </c:pt>
                <c:pt idx="4" c:formatCode="h:mm;@">
                  <c:v>0.166666666666667</c:v>
                </c:pt>
                <c:pt idx="5" c:formatCode="h:mm;@">
                  <c:v>0.208333333333333</c:v>
                </c:pt>
                <c:pt idx="6" c:formatCode="h:mm;@">
                  <c:v>0.25</c:v>
                </c:pt>
                <c:pt idx="7" c:formatCode="h:mm;@">
                  <c:v>0.291666666666667</c:v>
                </c:pt>
                <c:pt idx="8" c:formatCode="h:mm;@">
                  <c:v>0.333333333333333</c:v>
                </c:pt>
                <c:pt idx="9" c:formatCode="h:mm;@">
                  <c:v>0.375</c:v>
                </c:pt>
                <c:pt idx="10" c:formatCode="h:mm;@">
                  <c:v>0.416666666666667</c:v>
                </c:pt>
                <c:pt idx="11" c:formatCode="h:mm;@">
                  <c:v>0.458333333333333</c:v>
                </c:pt>
                <c:pt idx="12" c:formatCode="h:mm;@">
                  <c:v>0.5</c:v>
                </c:pt>
                <c:pt idx="13" c:formatCode="h:mm;@">
                  <c:v>0.541666666666667</c:v>
                </c:pt>
                <c:pt idx="14" c:formatCode="h:mm;@">
                  <c:v>0.583333333333333</c:v>
                </c:pt>
                <c:pt idx="15" c:formatCode="h:mm;@">
                  <c:v>0.625</c:v>
                </c:pt>
                <c:pt idx="16" c:formatCode="h:mm;@">
                  <c:v>0.666666666666667</c:v>
                </c:pt>
                <c:pt idx="17" c:formatCode="h:mm;@">
                  <c:v>0.708333333333333</c:v>
                </c:pt>
                <c:pt idx="18" c:formatCode="h:mm;@">
                  <c:v>0.75</c:v>
                </c:pt>
                <c:pt idx="19" c:formatCode="h:mm;@">
                  <c:v>0.791666666666667</c:v>
                </c:pt>
                <c:pt idx="20" c:formatCode="h:mm;@">
                  <c:v>0.833333333333333</c:v>
                </c:pt>
                <c:pt idx="21" c:formatCode="h:mm;@">
                  <c:v>0.875</c:v>
                </c:pt>
                <c:pt idx="22" c:formatCode="h:mm;@">
                  <c:v>0.916666666666667</c:v>
                </c:pt>
                <c:pt idx="23" c:formatCode="h:mm;@">
                  <c:v>0.958333333333333</c:v>
                </c:pt>
              </c:numCache>
            </c:numRef>
          </c:cat>
          <c:val>
            <c:numRef>
              <c:f>Sheet1!$D$6:$D$29</c:f>
              <c:numCache>
                <c:formatCode>0_ </c:formatCode>
                <c:ptCount val="24"/>
                <c:pt idx="0">
                  <c:v>302</c:v>
                </c:pt>
                <c:pt idx="1">
                  <c:v>292</c:v>
                </c:pt>
                <c:pt idx="2">
                  <c:v>307</c:v>
                </c:pt>
                <c:pt idx="3">
                  <c:v>293</c:v>
                </c:pt>
                <c:pt idx="4">
                  <c:v>271</c:v>
                </c:pt>
                <c:pt idx="5">
                  <c:v>252</c:v>
                </c:pt>
                <c:pt idx="6">
                  <c:v>283</c:v>
                </c:pt>
                <c:pt idx="7">
                  <c:v>223</c:v>
                </c:pt>
                <c:pt idx="8">
                  <c:v>292</c:v>
                </c:pt>
                <c:pt idx="9">
                  <c:v>283</c:v>
                </c:pt>
                <c:pt idx="10">
                  <c:v>287</c:v>
                </c:pt>
                <c:pt idx="11">
                  <c:v>362</c:v>
                </c:pt>
                <c:pt idx="12">
                  <c:v>446</c:v>
                </c:pt>
                <c:pt idx="13">
                  <c:v>504</c:v>
                </c:pt>
                <c:pt idx="14">
                  <c:v>455</c:v>
                </c:pt>
                <c:pt idx="15">
                  <c:v>506</c:v>
                </c:pt>
                <c:pt idx="16">
                  <c:v>283</c:v>
                </c:pt>
                <c:pt idx="17">
                  <c:v>311</c:v>
                </c:pt>
                <c:pt idx="18">
                  <c:v>418</c:v>
                </c:pt>
                <c:pt idx="19">
                  <c:v>223</c:v>
                </c:pt>
                <c:pt idx="20">
                  <c:v>229</c:v>
                </c:pt>
                <c:pt idx="21">
                  <c:v>361</c:v>
                </c:pt>
                <c:pt idx="22">
                  <c:v>302</c:v>
                </c:pt>
                <c:pt idx="23">
                  <c:v>291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round/>
            </a:ln>
            <a:effectLst/>
          </c:spPr>
        </c:dropLines>
        <c:marker val="0"/>
        <c:smooth val="0"/>
        <c:axId val="867377261"/>
        <c:axId val="818394886"/>
      </c:lineChart>
      <c:catAx>
        <c:axId val="86737726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818394886"/>
        <c:crosses val="autoZero"/>
        <c:auto val="1"/>
        <c:lblAlgn val="ctr"/>
        <c:lblOffset val="100"/>
        <c:noMultiLvlLbl val="0"/>
      </c:catAx>
      <c:valAx>
        <c:axId val="818394886"/>
        <c:scaling>
          <c:orientation val="minMax"/>
        </c:scaling>
        <c:delete val="1"/>
        <c:axPos val="l"/>
        <c:numFmt formatCode="0_ 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86737726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3146955-593d-491a-b28e-005f1c747e71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9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470945949026061"/>
          <c:y val="0.258606034849129"/>
          <c:w val="0.92874497987391"/>
          <c:h val="0.58423289417764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光伏出力（p.u.)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layout>
                <c:manualLayout>
                  <c:x val="-0.0362406378352259"/>
                  <c:y val="0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-0.0652331481034066"/>
                  <c:y val="-0.027624309392265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2"/>
              <c:layout>
                <c:manualLayout>
                  <c:x val="-0.0326165740517033"/>
                  <c:y val="-0.055248618784530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6"/>
              <c:layout>
                <c:manualLayout>
                  <c:x val="-0.00241604252234839"/>
                  <c:y val="-0.025499362515937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7"/>
              <c:layout>
                <c:manualLayout>
                  <c:x val="0.0495288717081421"/>
                  <c:y val="0.027624309392265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Sheet1!$A$6:$A$32</c:f>
              <c:numCache>
                <c:formatCode>h:mm;@</c:formatCode>
                <c:ptCount val="27"/>
                <c:pt idx="0" c:formatCode="h:mm;@">
                  <c:v>0</c:v>
                </c:pt>
                <c:pt idx="1" c:formatCode="h:mm;@">
                  <c:v>0.0416666666666667</c:v>
                </c:pt>
                <c:pt idx="2" c:formatCode="h:mm;@">
                  <c:v>0.0833333333333333</c:v>
                </c:pt>
                <c:pt idx="3" c:formatCode="h:mm;@">
                  <c:v>0.125</c:v>
                </c:pt>
                <c:pt idx="4" c:formatCode="h:mm;@">
                  <c:v>0.166666666666667</c:v>
                </c:pt>
                <c:pt idx="5" c:formatCode="h:mm;@">
                  <c:v>0.208333333333333</c:v>
                </c:pt>
                <c:pt idx="6" c:formatCode="h:mm;@">
                  <c:v>0.25</c:v>
                </c:pt>
                <c:pt idx="7" c:formatCode="h:mm;@">
                  <c:v>0.291666666666667</c:v>
                </c:pt>
                <c:pt idx="8" c:formatCode="h:mm;@">
                  <c:v>0.333333333333333</c:v>
                </c:pt>
                <c:pt idx="9" c:formatCode="h:mm;@">
                  <c:v>0.375</c:v>
                </c:pt>
                <c:pt idx="10" c:formatCode="h:mm;@">
                  <c:v>0.416666666666667</c:v>
                </c:pt>
                <c:pt idx="11" c:formatCode="h:mm;@">
                  <c:v>0.458333333333333</c:v>
                </c:pt>
                <c:pt idx="12" c:formatCode="h:mm;@">
                  <c:v>0.5</c:v>
                </c:pt>
                <c:pt idx="13" c:formatCode="h:mm;@">
                  <c:v>0.541666666666667</c:v>
                </c:pt>
                <c:pt idx="14" c:formatCode="h:mm;@">
                  <c:v>0.583333333333333</c:v>
                </c:pt>
                <c:pt idx="15" c:formatCode="h:mm;@">
                  <c:v>0.625</c:v>
                </c:pt>
                <c:pt idx="16" c:formatCode="h:mm;@">
                  <c:v>0.666666666666667</c:v>
                </c:pt>
                <c:pt idx="17" c:formatCode="h:mm;@">
                  <c:v>0.708333333333333</c:v>
                </c:pt>
                <c:pt idx="18" c:formatCode="h:mm;@">
                  <c:v>0.75</c:v>
                </c:pt>
                <c:pt idx="19" c:formatCode="h:mm;@">
                  <c:v>0.791666666666667</c:v>
                </c:pt>
                <c:pt idx="20" c:formatCode="h:mm;@">
                  <c:v>0.833333333333333</c:v>
                </c:pt>
                <c:pt idx="21" c:formatCode="h:mm;@">
                  <c:v>0.875</c:v>
                </c:pt>
                <c:pt idx="22" c:formatCode="h:mm;@">
                  <c:v>0.916666666666667</c:v>
                </c:pt>
                <c:pt idx="23" c:formatCode="h:mm;@">
                  <c:v>0.958333333333333</c:v>
                </c:pt>
              </c:numCache>
            </c:numRef>
          </c:cat>
          <c:val>
            <c:numRef>
              <c:f>Sheet1!$B$6:$B$32</c:f>
              <c:numCache>
                <c:formatCode>0.0000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0.0105</c:v>
                </c:pt>
                <c:pt idx="8">
                  <c:v>0.328</c:v>
                </c:pt>
                <c:pt idx="9">
                  <c:v>0.6314</c:v>
                </c:pt>
                <c:pt idx="10">
                  <c:v>0.7936</c:v>
                </c:pt>
                <c:pt idx="11">
                  <c:v>0.8925</c:v>
                </c:pt>
                <c:pt idx="12">
                  <c:v>0.8999</c:v>
                </c:pt>
                <c:pt idx="13">
                  <c:v>0.8221</c:v>
                </c:pt>
                <c:pt idx="14">
                  <c:v>0.6667</c:v>
                </c:pt>
                <c:pt idx="15">
                  <c:v>0.4275</c:v>
                </c:pt>
                <c:pt idx="16">
                  <c:v>0.0216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风力出力（p.u.)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8"/>
              <c:layout>
                <c:manualLayout>
                  <c:x val="0.0326165740517033"/>
                  <c:y val="0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-0.0205363614399613"/>
                  <c:y val="-0.07012324691882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0.018120318917613"/>
                  <c:y val="0.029749256268593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7"/>
              <c:layout>
                <c:manualLayout>
                  <c:x val="-0.0277844890070065"/>
                  <c:y val="-0.0233744156396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8"/>
              <c:layout>
                <c:manualLayout>
                  <c:x val="0.0543609567528388"/>
                  <c:y val="-0.02124946876328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9"/>
              <c:layout>
                <c:manualLayout>
                  <c:x val="-0.00845614882821938"/>
                  <c:y val="0.04674883127921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0"/>
              <c:layout>
                <c:manualLayout>
                  <c:x val="-0.0531529354916647"/>
                  <c:y val="0.031874203144921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2"/>
              <c:layout>
                <c:manualLayout>
                  <c:x val="0.0495288717081421"/>
                  <c:y val="-0.019124521886952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3"/>
              <c:layout>
                <c:manualLayout>
                  <c:x val="-0.0132882338729162"/>
                  <c:y val="-0.07012324691882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Sheet1!$A$6:$A$32</c:f>
              <c:numCache>
                <c:formatCode>h:mm;@</c:formatCode>
                <c:ptCount val="27"/>
                <c:pt idx="0" c:formatCode="h:mm;@">
                  <c:v>0</c:v>
                </c:pt>
                <c:pt idx="1" c:formatCode="h:mm;@">
                  <c:v>0.0416666666666667</c:v>
                </c:pt>
                <c:pt idx="2" c:formatCode="h:mm;@">
                  <c:v>0.0833333333333333</c:v>
                </c:pt>
                <c:pt idx="3" c:formatCode="h:mm;@">
                  <c:v>0.125</c:v>
                </c:pt>
                <c:pt idx="4" c:formatCode="h:mm;@">
                  <c:v>0.166666666666667</c:v>
                </c:pt>
                <c:pt idx="5" c:formatCode="h:mm;@">
                  <c:v>0.208333333333333</c:v>
                </c:pt>
                <c:pt idx="6" c:formatCode="h:mm;@">
                  <c:v>0.25</c:v>
                </c:pt>
                <c:pt idx="7" c:formatCode="h:mm;@">
                  <c:v>0.291666666666667</c:v>
                </c:pt>
                <c:pt idx="8" c:formatCode="h:mm;@">
                  <c:v>0.333333333333333</c:v>
                </c:pt>
                <c:pt idx="9" c:formatCode="h:mm;@">
                  <c:v>0.375</c:v>
                </c:pt>
                <c:pt idx="10" c:formatCode="h:mm;@">
                  <c:v>0.416666666666667</c:v>
                </c:pt>
                <c:pt idx="11" c:formatCode="h:mm;@">
                  <c:v>0.458333333333333</c:v>
                </c:pt>
                <c:pt idx="12" c:formatCode="h:mm;@">
                  <c:v>0.5</c:v>
                </c:pt>
                <c:pt idx="13" c:formatCode="h:mm;@">
                  <c:v>0.541666666666667</c:v>
                </c:pt>
                <c:pt idx="14" c:formatCode="h:mm;@">
                  <c:v>0.583333333333333</c:v>
                </c:pt>
                <c:pt idx="15" c:formatCode="h:mm;@">
                  <c:v>0.625</c:v>
                </c:pt>
                <c:pt idx="16" c:formatCode="h:mm;@">
                  <c:v>0.666666666666667</c:v>
                </c:pt>
                <c:pt idx="17" c:formatCode="h:mm;@">
                  <c:v>0.708333333333333</c:v>
                </c:pt>
                <c:pt idx="18" c:formatCode="h:mm;@">
                  <c:v>0.75</c:v>
                </c:pt>
                <c:pt idx="19" c:formatCode="h:mm;@">
                  <c:v>0.791666666666667</c:v>
                </c:pt>
                <c:pt idx="20" c:formatCode="h:mm;@">
                  <c:v>0.833333333333333</c:v>
                </c:pt>
                <c:pt idx="21" c:formatCode="h:mm;@">
                  <c:v>0.875</c:v>
                </c:pt>
                <c:pt idx="22" c:formatCode="h:mm;@">
                  <c:v>0.916666666666667</c:v>
                </c:pt>
                <c:pt idx="23" c:formatCode="h:mm;@">
                  <c:v>0.958333333333333</c:v>
                </c:pt>
              </c:numCache>
            </c:numRef>
          </c:cat>
          <c:val>
            <c:numRef>
              <c:f>Sheet1!$C$6:$C$32</c:f>
              <c:numCache>
                <c:formatCode>0.0000</c:formatCode>
                <c:ptCount val="27"/>
                <c:pt idx="0">
                  <c:v>0.1464</c:v>
                </c:pt>
                <c:pt idx="1">
                  <c:v>0.2175</c:v>
                </c:pt>
                <c:pt idx="2">
                  <c:v>0.3959</c:v>
                </c:pt>
                <c:pt idx="3">
                  <c:v>0.1831</c:v>
                </c:pt>
                <c:pt idx="4">
                  <c:v>0.4716</c:v>
                </c:pt>
                <c:pt idx="5">
                  <c:v>0.6215</c:v>
                </c:pt>
                <c:pt idx="6">
                  <c:v>0.2946</c:v>
                </c:pt>
                <c:pt idx="7">
                  <c:v>0.1214</c:v>
                </c:pt>
                <c:pt idx="8">
                  <c:v>0.025</c:v>
                </c:pt>
                <c:pt idx="9">
                  <c:v>0.3023</c:v>
                </c:pt>
                <c:pt idx="10">
                  <c:v>0.0196</c:v>
                </c:pt>
                <c:pt idx="11">
                  <c:v>0.1224</c:v>
                </c:pt>
                <c:pt idx="12">
                  <c:v>0.3335</c:v>
                </c:pt>
                <c:pt idx="13">
                  <c:v>0.2653</c:v>
                </c:pt>
                <c:pt idx="14">
                  <c:v>0.122</c:v>
                </c:pt>
                <c:pt idx="15">
                  <c:v>0.1633</c:v>
                </c:pt>
                <c:pt idx="16">
                  <c:v>0.2645</c:v>
                </c:pt>
                <c:pt idx="17">
                  <c:v>0.3408</c:v>
                </c:pt>
                <c:pt idx="18">
                  <c:v>0.3183</c:v>
                </c:pt>
                <c:pt idx="19">
                  <c:v>0.3299</c:v>
                </c:pt>
                <c:pt idx="20">
                  <c:v>0.1703</c:v>
                </c:pt>
                <c:pt idx="21">
                  <c:v>0.1655</c:v>
                </c:pt>
                <c:pt idx="22">
                  <c:v>0.1897</c:v>
                </c:pt>
                <c:pt idx="23">
                  <c:v>0.2323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03690486"/>
        <c:axId val="626455184"/>
      </c:lineChart>
      <c:catAx>
        <c:axId val="40369048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26455184"/>
        <c:crosses val="autoZero"/>
        <c:auto val="1"/>
        <c:lblAlgn val="ctr"/>
        <c:lblOffset val="100"/>
        <c:noMultiLvlLbl val="0"/>
      </c:catAx>
      <c:valAx>
        <c:axId val="626455184"/>
        <c:scaling>
          <c:orientation val="minMax"/>
        </c:scaling>
        <c:delete val="1"/>
        <c:axPos val="l"/>
        <c:numFmt formatCode="0.000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369048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c6dd676-a3be-4f98-9b0c-e5a9dccfa9b7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05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DBC5-9E66-470C-8F09-3D34600A9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50E32-74C6-4009-B20D-1F095FDC89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DBC5-9E66-470C-8F09-3D34600A9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50E32-74C6-4009-B20D-1F095FDC89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DBC5-9E66-470C-8F09-3D34600A9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50E32-74C6-4009-B20D-1F095FDC89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DBC5-9E66-470C-8F09-3D34600A9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50E32-74C6-4009-B20D-1F095FDC89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DBC5-9E66-470C-8F09-3D34600A9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50E32-74C6-4009-B20D-1F095FDC89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DBC5-9E66-470C-8F09-3D34600A9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50E32-74C6-4009-B20D-1F095FDC89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DBC5-9E66-470C-8F09-3D34600A9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50E32-74C6-4009-B20D-1F095FDC89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DBC5-9E66-470C-8F09-3D34600A9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50E32-74C6-4009-B20D-1F095FDC89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DBC5-9E66-470C-8F09-3D34600A9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50E32-74C6-4009-B20D-1F095FDC89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DBC5-9E66-470C-8F09-3D34600A9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50E32-74C6-4009-B20D-1F095FDC89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DBC5-9E66-470C-8F09-3D34600A9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50E32-74C6-4009-B20D-1F095FDC89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6DBC5-9E66-470C-8F09-3D34600A9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50E32-74C6-4009-B20D-1F095FDC89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4.xml"/><Relationship Id="rId7" Type="http://schemas.openxmlformats.org/officeDocument/2006/relationships/image" Target="../media/image6.png"/><Relationship Id="rId6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image" Target="../media/image4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image" Target="../media/image4.png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image" Target="../media/image4.png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333461" y="0"/>
            <a:ext cx="7858539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50849" b="100000" l="2303" r="100000">
                        <a14:backgroundMark x1="28667" y1="91310" x2="28667" y2="913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" t="49686" r="-72" b="314"/>
          <a:stretch>
            <a:fillRect/>
          </a:stretch>
        </p:blipFill>
        <p:spPr>
          <a:xfrm>
            <a:off x="3043698" y="0"/>
            <a:ext cx="9148302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285" b="50000"/>
          <a:stretch>
            <a:fillRect/>
          </a:stretch>
        </p:blipFill>
        <p:spPr>
          <a:xfrm>
            <a:off x="0" y="0"/>
            <a:ext cx="4731026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48575" y="905632"/>
            <a:ext cx="6334539" cy="21228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6600" dirty="0">
                <a:solidFill>
                  <a:schemeClr val="accent4"/>
                </a:solidFill>
                <a:effectLst/>
                <a:latin typeface="汉仪铸字木头人W" panose="00020600040101010101" pitchFamily="18" charset="-122"/>
                <a:ea typeface="汉仪铸字木头人W" panose="00020600040101010101" pitchFamily="18" charset="-122"/>
              </a:rPr>
              <a:t>招新题目</a:t>
            </a:r>
            <a:r>
              <a:rPr lang="en-US" altLang="zh-CN" sz="6600" dirty="0">
                <a:solidFill>
                  <a:schemeClr val="accent4"/>
                </a:solidFill>
                <a:effectLst/>
                <a:latin typeface="汉仪铸字木头人W" panose="00020600040101010101" pitchFamily="18" charset="-122"/>
                <a:ea typeface="汉仪铸字木头人W" panose="00020600040101010101" pitchFamily="18" charset="-122"/>
              </a:rPr>
              <a:t>B</a:t>
            </a:r>
            <a:r>
              <a:rPr lang="zh-CN" altLang="en-US" sz="6600" dirty="0">
                <a:solidFill>
                  <a:schemeClr val="accent4"/>
                </a:solidFill>
                <a:effectLst/>
                <a:latin typeface="汉仪铸字木头人W" panose="00020600040101010101" pitchFamily="18" charset="-122"/>
                <a:ea typeface="汉仪铸字木头人W" panose="00020600040101010101" pitchFamily="18" charset="-122"/>
              </a:rPr>
              <a:t>方向答辩</a:t>
            </a:r>
            <a:endParaRPr lang="zh-CN" altLang="en-US" sz="6600" dirty="0">
              <a:solidFill>
                <a:schemeClr val="accent4"/>
              </a:solidFill>
              <a:effectLst/>
              <a:latin typeface="汉仪铸字木头人W" panose="00020600040101010101" pitchFamily="18" charset="-122"/>
              <a:ea typeface="汉仪铸字木头人W" panose="00020600040101010101" pitchFamily="18" charset="-122"/>
            </a:endParaRPr>
          </a:p>
        </p:txBody>
      </p:sp>
      <p:sp>
        <p:nvSpPr>
          <p:cNvPr id="10" name="圆角矩形 50"/>
          <p:cNvSpPr/>
          <p:nvPr/>
        </p:nvSpPr>
        <p:spPr>
          <a:xfrm>
            <a:off x="6898419" y="2971969"/>
            <a:ext cx="1657350" cy="457200"/>
          </a:xfrm>
          <a:prstGeom prst="roundRect">
            <a:avLst>
              <a:gd name="adj" fmla="val 50000"/>
            </a:avLst>
          </a:prstGeom>
          <a:solidFill>
            <a:srgbClr val="FFD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答辩人：于馨言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62425" y="0"/>
            <a:ext cx="8029575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285" b="50000"/>
          <a:stretch>
            <a:fillRect/>
          </a:stretch>
        </p:blipFill>
        <p:spPr>
          <a:xfrm>
            <a:off x="0" y="0"/>
            <a:ext cx="4731026" cy="68580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72069" y="3075057"/>
            <a:ext cx="25179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988" y="1151834"/>
            <a:ext cx="1126988" cy="112698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77334" y="2388704"/>
            <a:ext cx="1040296" cy="104029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334" y="3538882"/>
            <a:ext cx="1040296" cy="104029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988" y="4689060"/>
            <a:ext cx="1126988" cy="1126988"/>
          </a:xfrm>
          <a:prstGeom prst="rect">
            <a:avLst/>
          </a:prstGeom>
        </p:spPr>
      </p:pic>
      <p:grpSp>
        <p:nvGrpSpPr>
          <p:cNvPr id="18" name="组合 17"/>
          <p:cNvGrpSpPr/>
          <p:nvPr>
            <p:custDataLst>
              <p:tags r:id="rId10"/>
            </p:custDataLst>
          </p:nvPr>
        </p:nvGrpSpPr>
        <p:grpSpPr>
          <a:xfrm>
            <a:off x="7745631" y="3602767"/>
            <a:ext cx="3664770" cy="917528"/>
            <a:chOff x="417727" y="201653"/>
            <a:chExt cx="4886362" cy="1223368"/>
          </a:xfrm>
        </p:grpSpPr>
        <p:sp>
          <p:nvSpPr>
            <p:cNvPr id="19" name="文本框 18"/>
            <p:cNvSpPr txBox="1"/>
            <p:nvPr>
              <p:custDataLst>
                <p:tags r:id="rId11"/>
              </p:custDataLst>
            </p:nvPr>
          </p:nvSpPr>
          <p:spPr>
            <a:xfrm>
              <a:off x="445539" y="201653"/>
              <a:ext cx="1869441" cy="86021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实验结果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2"/>
              </p:custDataLst>
            </p:nvPr>
          </p:nvSpPr>
          <p:spPr>
            <a:xfrm>
              <a:off x="417727" y="851829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2" name="文本框 21"/>
          <p:cNvSpPr txBox="1"/>
          <p:nvPr>
            <p:custDataLst>
              <p:tags r:id="rId13"/>
            </p:custDataLst>
          </p:nvPr>
        </p:nvSpPr>
        <p:spPr>
          <a:xfrm>
            <a:off x="7833995" y="4852035"/>
            <a:ext cx="2926080" cy="6451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实验不足与个人收获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>
            <p:custDataLst>
              <p:tags r:id="rId14"/>
            </p:custDataLst>
          </p:nvPr>
        </p:nvGrpSpPr>
        <p:grpSpPr>
          <a:xfrm>
            <a:off x="7751145" y="1361493"/>
            <a:ext cx="3664772" cy="966286"/>
            <a:chOff x="417727" y="136642"/>
            <a:chExt cx="4886362" cy="1288379"/>
          </a:xfrm>
        </p:grpSpPr>
        <p:sp>
          <p:nvSpPr>
            <p:cNvPr id="25" name="文本框 24"/>
            <p:cNvSpPr txBox="1"/>
            <p:nvPr>
              <p:custDataLst>
                <p:tags r:id="rId15"/>
              </p:custDataLst>
            </p:nvPr>
          </p:nvSpPr>
          <p:spPr>
            <a:xfrm>
              <a:off x="445540" y="136642"/>
              <a:ext cx="1869440" cy="86021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研究问题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6"/>
              </p:custDataLst>
            </p:nvPr>
          </p:nvSpPr>
          <p:spPr>
            <a:xfrm>
              <a:off x="417727" y="851829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7"/>
            </p:custDataLst>
          </p:nvPr>
        </p:nvGrpSpPr>
        <p:grpSpPr>
          <a:xfrm>
            <a:off x="7751145" y="2610409"/>
            <a:ext cx="3664771" cy="865494"/>
            <a:chOff x="417727" y="271031"/>
            <a:chExt cx="4886362" cy="1153990"/>
          </a:xfrm>
        </p:grpSpPr>
        <p:sp>
          <p:nvSpPr>
            <p:cNvPr id="28" name="文本框 27"/>
            <p:cNvSpPr txBox="1"/>
            <p:nvPr>
              <p:custDataLst>
                <p:tags r:id="rId18"/>
              </p:custDataLst>
            </p:nvPr>
          </p:nvSpPr>
          <p:spPr>
            <a:xfrm>
              <a:off x="529569" y="271031"/>
              <a:ext cx="3901441" cy="86021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实验数据与分析方法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>
              <a:off x="417727" y="851829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333461" y="0"/>
            <a:ext cx="7858539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285" b="50000"/>
          <a:stretch>
            <a:fillRect/>
          </a:stretch>
        </p:blipFill>
        <p:spPr>
          <a:xfrm>
            <a:off x="0" y="0"/>
            <a:ext cx="4731026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615" y="2182985"/>
            <a:ext cx="2673286" cy="2673286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4597958" y="3066171"/>
            <a:ext cx="3664772" cy="1147544"/>
            <a:chOff x="417727" y="-105035"/>
            <a:chExt cx="4886362" cy="1530056"/>
          </a:xfrm>
        </p:grpSpPr>
        <p:sp>
          <p:nvSpPr>
            <p:cNvPr id="25" name="文本框 24"/>
            <p:cNvSpPr txBox="1"/>
            <p:nvPr/>
          </p:nvSpPr>
          <p:spPr>
            <a:xfrm>
              <a:off x="2336496" y="-105035"/>
              <a:ext cx="2953173" cy="135297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研究问题</a:t>
              </a:r>
              <a:endPara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417727" y="851829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200000"/>
                </a:lnSpc>
                <a:spcAft>
                  <a:spcPts val="1000"/>
                </a:spcAft>
              </a:pPr>
              <a:r>
                <a:rPr lang="en-US" altLang="zh-CN" sz="1100" kern="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6" y="0"/>
            <a:ext cx="1126988" cy="112698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337919" y="157091"/>
            <a:ext cx="3664772" cy="861763"/>
            <a:chOff x="436412" y="136642"/>
            <a:chExt cx="4886362" cy="1149015"/>
          </a:xfrm>
        </p:grpSpPr>
        <p:sp>
          <p:nvSpPr>
            <p:cNvPr id="10" name="文本框 9"/>
            <p:cNvSpPr txBox="1"/>
            <p:nvPr/>
          </p:nvSpPr>
          <p:spPr>
            <a:xfrm>
              <a:off x="445540" y="136642"/>
              <a:ext cx="1869440" cy="86021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研究问题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36412" y="712465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3025689" y="829527"/>
            <a:ext cx="10285730" cy="939405"/>
            <a:chOff x="1073016" y="4297838"/>
            <a:chExt cx="10285730" cy="939405"/>
          </a:xfrm>
        </p:grpSpPr>
        <p:sp>
          <p:nvSpPr>
            <p:cNvPr id="13" name="圆角矩形 50"/>
            <p:cNvSpPr/>
            <p:nvPr>
              <p:custDataLst>
                <p:tags r:id="rId3"/>
              </p:custDataLst>
            </p:nvPr>
          </p:nvSpPr>
          <p:spPr>
            <a:xfrm>
              <a:off x="1073016" y="4297838"/>
              <a:ext cx="10285730" cy="440055"/>
            </a:xfrm>
            <a:prstGeom prst="roundRect">
              <a:avLst>
                <a:gd name="adj" fmla="val 50000"/>
              </a:avLst>
            </a:prstGeom>
            <a:solidFill>
              <a:srgbClr val="FFD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4"/>
              </p:custDataLst>
            </p:nvPr>
          </p:nvSpPr>
          <p:spPr>
            <a:xfrm>
              <a:off x="1073651" y="4823223"/>
              <a:ext cx="2395272" cy="414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GB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5"/>
              </p:custDataLst>
            </p:nvPr>
          </p:nvSpPr>
          <p:spPr>
            <a:xfrm>
              <a:off x="4462011" y="4297838"/>
              <a:ext cx="1935480" cy="29972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 defTabSz="1218565">
                <a:defRPr/>
              </a:pPr>
              <a:r>
                <a:rPr lang="zh-CN" altLang="en-US" b="1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1.在配置50</a:t>
              </a:r>
              <a:r>
                <a:rPr lang="en-US" altLang="zh-CN" b="1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kW/100kWh</a:t>
              </a:r>
              <a:r>
                <a:rPr lang="zh-CN" altLang="en-US" b="1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的储能系统是否能降低园区微电网的购电量和平均供电成本？</a:t>
              </a:r>
              <a:endParaRPr lang="zh-CN" altLang="en-US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6"/>
            </p:custDataLst>
          </p:nvPr>
        </p:nvGrpSpPr>
        <p:grpSpPr>
          <a:xfrm>
            <a:off x="3025908" y="2732622"/>
            <a:ext cx="4966335" cy="1034020"/>
            <a:chOff x="4673574" y="4203223"/>
            <a:chExt cx="4966335" cy="1034020"/>
          </a:xfrm>
        </p:grpSpPr>
        <p:sp>
          <p:nvSpPr>
            <p:cNvPr id="17" name="圆角矩形 69"/>
            <p:cNvSpPr/>
            <p:nvPr>
              <p:custDataLst>
                <p:tags r:id="rId7"/>
              </p:custDataLst>
            </p:nvPr>
          </p:nvSpPr>
          <p:spPr>
            <a:xfrm>
              <a:off x="4673574" y="4203223"/>
              <a:ext cx="4966335" cy="450215"/>
            </a:xfrm>
            <a:prstGeom prst="roundRect">
              <a:avLst>
                <a:gd name="adj" fmla="val 50000"/>
              </a:avLst>
            </a:prstGeom>
            <a:solidFill>
              <a:srgbClr val="FFD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8"/>
              </p:custDataLst>
            </p:nvPr>
          </p:nvSpPr>
          <p:spPr>
            <a:xfrm>
              <a:off x="4898364" y="4823223"/>
              <a:ext cx="2395272" cy="414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GB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9"/>
              </p:custDataLst>
            </p:nvPr>
          </p:nvSpPr>
          <p:spPr>
            <a:xfrm>
              <a:off x="7000214" y="4303553"/>
              <a:ext cx="391160" cy="22733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 defTabSz="1218565">
                <a:defRPr/>
              </a:pPr>
              <a:r>
                <a:rPr lang="en-US" altLang="zh-CN" b="1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2.A，B，C</a:t>
              </a:r>
              <a:r>
                <a:rPr lang="zh-CN" altLang="en-US" b="1" kern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三个园区的改善程度差异如何？</a:t>
              </a:r>
              <a:endParaRPr lang="zh-CN" altLang="en-US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0"/>
            </p:custDataLst>
          </p:nvPr>
        </p:nvGrpSpPr>
        <p:grpSpPr>
          <a:xfrm>
            <a:off x="2946753" y="4155776"/>
            <a:ext cx="7894981" cy="1556506"/>
            <a:chOff x="-5468754" y="4297957"/>
            <a:chExt cx="7894981" cy="1556506"/>
          </a:xfrm>
        </p:grpSpPr>
        <p:sp>
          <p:nvSpPr>
            <p:cNvPr id="21" name="圆角矩形 50"/>
            <p:cNvSpPr/>
            <p:nvPr>
              <p:custDataLst>
                <p:tags r:id="rId11"/>
              </p:custDataLst>
            </p:nvPr>
          </p:nvSpPr>
          <p:spPr>
            <a:xfrm>
              <a:off x="-5390014" y="4823737"/>
              <a:ext cx="5790565" cy="434975"/>
            </a:xfrm>
            <a:prstGeom prst="roundRect">
              <a:avLst>
                <a:gd name="adj" fmla="val 50000"/>
              </a:avLst>
            </a:prstGeom>
            <a:solidFill>
              <a:srgbClr val="FFD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3.各园区最优储能配置与运行策略是什么？</a:t>
              </a:r>
              <a:endParaRPr kumimoji="0" lang="zh-CN" altLang="en-US" sz="1800" b="0" i="0" u="none" strike="noStrike" kern="120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12"/>
              </p:custDataLst>
            </p:nvPr>
          </p:nvSpPr>
          <p:spPr>
            <a:xfrm>
              <a:off x="-5468754" y="5440443"/>
              <a:ext cx="2395272" cy="414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GB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3"/>
              </p:custDataLst>
            </p:nvPr>
          </p:nvSpPr>
          <p:spPr>
            <a:xfrm>
              <a:off x="2116347" y="4297957"/>
              <a:ext cx="3098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8565">
                <a:defRPr/>
              </a:pPr>
              <a:endParaRPr lang="zh-CN" altLang="en-US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333461" y="0"/>
            <a:ext cx="7858539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实验数据和方法</a:t>
            </a:r>
            <a:endParaRPr lang="zh-CN" altLang="en-US" sz="4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285" b="50000"/>
          <a:stretch>
            <a:fillRect/>
          </a:stretch>
        </p:blipFill>
        <p:spPr>
          <a:xfrm>
            <a:off x="0" y="0"/>
            <a:ext cx="4731026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75" y="2281410"/>
            <a:ext cx="2673286" cy="2673286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4597958" y="3066171"/>
            <a:ext cx="3664772" cy="1147544"/>
            <a:chOff x="417727" y="-105035"/>
            <a:chExt cx="4886362" cy="1530056"/>
          </a:xfrm>
        </p:grpSpPr>
        <p:sp>
          <p:nvSpPr>
            <p:cNvPr id="25" name="文本框 24"/>
            <p:cNvSpPr txBox="1"/>
            <p:nvPr/>
          </p:nvSpPr>
          <p:spPr>
            <a:xfrm>
              <a:off x="3606496" y="-105035"/>
              <a:ext cx="413173" cy="135297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417727" y="851829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6" y="0"/>
            <a:ext cx="1126988" cy="112698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273010" y="157091"/>
            <a:ext cx="4115126" cy="861763"/>
            <a:chOff x="-164060" y="136642"/>
            <a:chExt cx="5486834" cy="1149015"/>
          </a:xfrm>
        </p:grpSpPr>
        <p:sp>
          <p:nvSpPr>
            <p:cNvPr id="10" name="文本框 9"/>
            <p:cNvSpPr txBox="1"/>
            <p:nvPr/>
          </p:nvSpPr>
          <p:spPr>
            <a:xfrm>
              <a:off x="-164060" y="136642"/>
              <a:ext cx="3088640" cy="86021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实验数据和方法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36412" y="712465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004323" y="2390302"/>
            <a:ext cx="662952" cy="662952"/>
            <a:chOff x="8125599" y="1434035"/>
            <a:chExt cx="2036802" cy="2036802"/>
          </a:xfrm>
          <a:solidFill>
            <a:schemeClr val="bg1"/>
          </a:solidFill>
        </p:grpSpPr>
        <p:sp>
          <p:nvSpPr>
            <p:cNvPr id="13" name="椭圆 12"/>
            <p:cNvSpPr/>
            <p:nvPr>
              <p:custDataLst>
                <p:tags r:id="rId3"/>
              </p:custDataLst>
            </p:nvPr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grpSp>
          <p:nvGrpSpPr>
            <p:cNvPr id="16" name="组合 15"/>
            <p:cNvGrpSpPr>
              <a:grpSpLocks noChangeAspect="1"/>
            </p:cNvGrpSpPr>
            <p:nvPr/>
          </p:nvGrpSpPr>
          <p:grpSpPr>
            <a:xfrm>
              <a:off x="8518659" y="1890295"/>
              <a:ext cx="1310642" cy="1124283"/>
              <a:chOff x="5084763" y="971548"/>
              <a:chExt cx="323865" cy="277813"/>
            </a:xfrm>
            <a:grpFill/>
          </p:grpSpPr>
          <p:sp>
            <p:nvSpPr>
              <p:cNvPr id="17" name="Freeform 301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5191140" y="1031873"/>
                <a:ext cx="217488" cy="217488"/>
              </a:xfrm>
              <a:custGeom>
                <a:avLst/>
                <a:gdLst>
                  <a:gd name="T0" fmla="*/ 6 w 58"/>
                  <a:gd name="T1" fmla="*/ 14 h 58"/>
                  <a:gd name="T2" fmla="*/ 7 w 58"/>
                  <a:gd name="T3" fmla="*/ 19 h 58"/>
                  <a:gd name="T4" fmla="*/ 4 w 58"/>
                  <a:gd name="T5" fmla="*/ 20 h 58"/>
                  <a:gd name="T6" fmla="*/ 0 w 58"/>
                  <a:gd name="T7" fmla="*/ 23 h 58"/>
                  <a:gd name="T8" fmla="*/ 2 w 58"/>
                  <a:gd name="T9" fmla="*/ 27 h 58"/>
                  <a:gd name="T10" fmla="*/ 5 w 58"/>
                  <a:gd name="T11" fmla="*/ 31 h 58"/>
                  <a:gd name="T12" fmla="*/ 2 w 58"/>
                  <a:gd name="T13" fmla="*/ 34 h 58"/>
                  <a:gd name="T14" fmla="*/ 1 w 58"/>
                  <a:gd name="T15" fmla="*/ 38 h 58"/>
                  <a:gd name="T16" fmla="*/ 5 w 58"/>
                  <a:gd name="T17" fmla="*/ 41 h 58"/>
                  <a:gd name="T18" fmla="*/ 8 w 58"/>
                  <a:gd name="T19" fmla="*/ 42 h 58"/>
                  <a:gd name="T20" fmla="*/ 8 w 58"/>
                  <a:gd name="T21" fmla="*/ 46 h 58"/>
                  <a:gd name="T22" fmla="*/ 9 w 58"/>
                  <a:gd name="T23" fmla="*/ 51 h 58"/>
                  <a:gd name="T24" fmla="*/ 14 w 58"/>
                  <a:gd name="T25" fmla="*/ 51 h 58"/>
                  <a:gd name="T26" fmla="*/ 18 w 58"/>
                  <a:gd name="T27" fmla="*/ 51 h 58"/>
                  <a:gd name="T28" fmla="*/ 19 w 58"/>
                  <a:gd name="T29" fmla="*/ 54 h 58"/>
                  <a:gd name="T30" fmla="*/ 22 w 58"/>
                  <a:gd name="T31" fmla="*/ 58 h 58"/>
                  <a:gd name="T32" fmla="*/ 27 w 58"/>
                  <a:gd name="T33" fmla="*/ 56 h 58"/>
                  <a:gd name="T34" fmla="*/ 31 w 58"/>
                  <a:gd name="T35" fmla="*/ 53 h 58"/>
                  <a:gd name="T36" fmla="*/ 33 w 58"/>
                  <a:gd name="T37" fmla="*/ 56 h 58"/>
                  <a:gd name="T38" fmla="*/ 38 w 58"/>
                  <a:gd name="T39" fmla="*/ 57 h 58"/>
                  <a:gd name="T40" fmla="*/ 40 w 58"/>
                  <a:gd name="T41" fmla="*/ 53 h 58"/>
                  <a:gd name="T42" fmla="*/ 42 w 58"/>
                  <a:gd name="T43" fmla="*/ 49 h 58"/>
                  <a:gd name="T44" fmla="*/ 46 w 58"/>
                  <a:gd name="T45" fmla="*/ 50 h 58"/>
                  <a:gd name="T46" fmla="*/ 50 w 58"/>
                  <a:gd name="T47" fmla="*/ 49 h 58"/>
                  <a:gd name="T48" fmla="*/ 51 w 58"/>
                  <a:gd name="T49" fmla="*/ 44 h 58"/>
                  <a:gd name="T50" fmla="*/ 50 w 58"/>
                  <a:gd name="T51" fmla="*/ 40 h 58"/>
                  <a:gd name="T52" fmla="*/ 54 w 58"/>
                  <a:gd name="T53" fmla="*/ 39 h 58"/>
                  <a:gd name="T54" fmla="*/ 57 w 58"/>
                  <a:gd name="T55" fmla="*/ 35 h 58"/>
                  <a:gd name="T56" fmla="*/ 55 w 58"/>
                  <a:gd name="T57" fmla="*/ 31 h 58"/>
                  <a:gd name="T58" fmla="*/ 52 w 58"/>
                  <a:gd name="T59" fmla="*/ 27 h 58"/>
                  <a:gd name="T60" fmla="*/ 55 w 58"/>
                  <a:gd name="T61" fmla="*/ 25 h 58"/>
                  <a:gd name="T62" fmla="*/ 56 w 58"/>
                  <a:gd name="T63" fmla="*/ 20 h 58"/>
                  <a:gd name="T64" fmla="*/ 53 w 58"/>
                  <a:gd name="T65" fmla="*/ 18 h 58"/>
                  <a:gd name="T66" fmla="*/ 48 w 58"/>
                  <a:gd name="T67" fmla="*/ 16 h 58"/>
                  <a:gd name="T68" fmla="*/ 49 w 58"/>
                  <a:gd name="T69" fmla="*/ 12 h 58"/>
                  <a:gd name="T70" fmla="*/ 48 w 58"/>
                  <a:gd name="T71" fmla="*/ 8 h 58"/>
                  <a:gd name="T72" fmla="*/ 44 w 58"/>
                  <a:gd name="T73" fmla="*/ 7 h 58"/>
                  <a:gd name="T74" fmla="*/ 39 w 58"/>
                  <a:gd name="T75" fmla="*/ 8 h 58"/>
                  <a:gd name="T76" fmla="*/ 38 w 58"/>
                  <a:gd name="T77" fmla="*/ 4 h 58"/>
                  <a:gd name="T78" fmla="*/ 35 w 58"/>
                  <a:gd name="T79" fmla="*/ 1 h 58"/>
                  <a:gd name="T80" fmla="*/ 30 w 58"/>
                  <a:gd name="T81" fmla="*/ 3 h 58"/>
                  <a:gd name="T82" fmla="*/ 27 w 58"/>
                  <a:gd name="T83" fmla="*/ 5 h 58"/>
                  <a:gd name="T84" fmla="*/ 24 w 58"/>
                  <a:gd name="T85" fmla="*/ 3 h 58"/>
                  <a:gd name="T86" fmla="*/ 20 w 58"/>
                  <a:gd name="T87" fmla="*/ 1 h 58"/>
                  <a:gd name="T88" fmla="*/ 17 w 58"/>
                  <a:gd name="T89" fmla="*/ 5 h 58"/>
                  <a:gd name="T90" fmla="*/ 15 w 58"/>
                  <a:gd name="T91" fmla="*/ 10 h 58"/>
                  <a:gd name="T92" fmla="*/ 12 w 58"/>
                  <a:gd name="T93" fmla="*/ 9 h 58"/>
                  <a:gd name="T94" fmla="*/ 7 w 58"/>
                  <a:gd name="T95" fmla="*/ 10 h 58"/>
                  <a:gd name="T96" fmla="*/ 6 w 58"/>
                  <a:gd name="T97" fmla="*/ 14 h 58"/>
                  <a:gd name="T98" fmla="*/ 23 w 58"/>
                  <a:gd name="T99" fmla="*/ 13 h 58"/>
                  <a:gd name="T100" fmla="*/ 45 w 58"/>
                  <a:gd name="T101" fmla="*/ 24 h 58"/>
                  <a:gd name="T102" fmla="*/ 34 w 58"/>
                  <a:gd name="T103" fmla="*/ 45 h 58"/>
                  <a:gd name="T104" fmla="*/ 13 w 58"/>
                  <a:gd name="T105" fmla="*/ 34 h 58"/>
                  <a:gd name="T106" fmla="*/ 23 w 58"/>
                  <a:gd name="T107" fmla="*/ 1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8" h="58">
                    <a:moveTo>
                      <a:pt x="6" y="14"/>
                    </a:moveTo>
                    <a:cubicBezTo>
                      <a:pt x="8" y="15"/>
                      <a:pt x="7" y="18"/>
                      <a:pt x="7" y="19"/>
                    </a:cubicBezTo>
                    <a:cubicBezTo>
                      <a:pt x="7" y="20"/>
                      <a:pt x="5" y="20"/>
                      <a:pt x="4" y="20"/>
                    </a:cubicBezTo>
                    <a:cubicBezTo>
                      <a:pt x="2" y="20"/>
                      <a:pt x="0" y="21"/>
                      <a:pt x="0" y="23"/>
                    </a:cubicBezTo>
                    <a:cubicBezTo>
                      <a:pt x="0" y="25"/>
                      <a:pt x="0" y="27"/>
                      <a:pt x="2" y="27"/>
                    </a:cubicBezTo>
                    <a:cubicBezTo>
                      <a:pt x="3" y="28"/>
                      <a:pt x="5" y="30"/>
                      <a:pt x="5" y="31"/>
                    </a:cubicBezTo>
                    <a:cubicBezTo>
                      <a:pt x="5" y="32"/>
                      <a:pt x="4" y="33"/>
                      <a:pt x="2" y="34"/>
                    </a:cubicBezTo>
                    <a:cubicBezTo>
                      <a:pt x="1" y="34"/>
                      <a:pt x="0" y="36"/>
                      <a:pt x="1" y="38"/>
                    </a:cubicBezTo>
                    <a:cubicBezTo>
                      <a:pt x="1" y="40"/>
                      <a:pt x="3" y="42"/>
                      <a:pt x="5" y="41"/>
                    </a:cubicBezTo>
                    <a:cubicBezTo>
                      <a:pt x="6" y="41"/>
                      <a:pt x="8" y="41"/>
                      <a:pt x="8" y="42"/>
                    </a:cubicBezTo>
                    <a:cubicBezTo>
                      <a:pt x="9" y="42"/>
                      <a:pt x="9" y="45"/>
                      <a:pt x="8" y="46"/>
                    </a:cubicBezTo>
                    <a:cubicBezTo>
                      <a:pt x="7" y="47"/>
                      <a:pt x="7" y="50"/>
                      <a:pt x="9" y="51"/>
                    </a:cubicBezTo>
                    <a:cubicBezTo>
                      <a:pt x="11" y="52"/>
                      <a:pt x="13" y="53"/>
                      <a:pt x="14" y="51"/>
                    </a:cubicBezTo>
                    <a:cubicBezTo>
                      <a:pt x="15" y="50"/>
                      <a:pt x="18" y="51"/>
                      <a:pt x="18" y="51"/>
                    </a:cubicBezTo>
                    <a:cubicBezTo>
                      <a:pt x="19" y="51"/>
                      <a:pt x="20" y="53"/>
                      <a:pt x="19" y="54"/>
                    </a:cubicBezTo>
                    <a:cubicBezTo>
                      <a:pt x="19" y="56"/>
                      <a:pt x="20" y="57"/>
                      <a:pt x="22" y="58"/>
                    </a:cubicBezTo>
                    <a:cubicBezTo>
                      <a:pt x="25" y="58"/>
                      <a:pt x="26" y="57"/>
                      <a:pt x="27" y="56"/>
                    </a:cubicBezTo>
                    <a:cubicBezTo>
                      <a:pt x="27" y="54"/>
                      <a:pt x="30" y="53"/>
                      <a:pt x="31" y="53"/>
                    </a:cubicBezTo>
                    <a:cubicBezTo>
                      <a:pt x="31" y="53"/>
                      <a:pt x="33" y="54"/>
                      <a:pt x="33" y="56"/>
                    </a:cubicBezTo>
                    <a:cubicBezTo>
                      <a:pt x="34" y="57"/>
                      <a:pt x="36" y="58"/>
                      <a:pt x="38" y="57"/>
                    </a:cubicBezTo>
                    <a:cubicBezTo>
                      <a:pt x="40" y="57"/>
                      <a:pt x="41" y="55"/>
                      <a:pt x="40" y="53"/>
                    </a:cubicBezTo>
                    <a:cubicBezTo>
                      <a:pt x="40" y="52"/>
                      <a:pt x="42" y="49"/>
                      <a:pt x="42" y="49"/>
                    </a:cubicBezTo>
                    <a:cubicBezTo>
                      <a:pt x="43" y="48"/>
                      <a:pt x="44" y="49"/>
                      <a:pt x="46" y="50"/>
                    </a:cubicBezTo>
                    <a:cubicBezTo>
                      <a:pt x="47" y="51"/>
                      <a:pt x="49" y="51"/>
                      <a:pt x="50" y="49"/>
                    </a:cubicBezTo>
                    <a:cubicBezTo>
                      <a:pt x="52" y="47"/>
                      <a:pt x="52" y="45"/>
                      <a:pt x="51" y="44"/>
                    </a:cubicBezTo>
                    <a:cubicBezTo>
                      <a:pt x="50" y="43"/>
                      <a:pt x="50" y="40"/>
                      <a:pt x="50" y="40"/>
                    </a:cubicBezTo>
                    <a:cubicBezTo>
                      <a:pt x="51" y="39"/>
                      <a:pt x="52" y="38"/>
                      <a:pt x="54" y="39"/>
                    </a:cubicBezTo>
                    <a:cubicBezTo>
                      <a:pt x="55" y="39"/>
                      <a:pt x="57" y="38"/>
                      <a:pt x="57" y="35"/>
                    </a:cubicBezTo>
                    <a:cubicBezTo>
                      <a:pt x="58" y="33"/>
                      <a:pt x="57" y="31"/>
                      <a:pt x="55" y="31"/>
                    </a:cubicBezTo>
                    <a:cubicBezTo>
                      <a:pt x="54" y="31"/>
                      <a:pt x="53" y="28"/>
                      <a:pt x="52" y="27"/>
                    </a:cubicBezTo>
                    <a:cubicBezTo>
                      <a:pt x="52" y="26"/>
                      <a:pt x="54" y="25"/>
                      <a:pt x="55" y="25"/>
                    </a:cubicBezTo>
                    <a:cubicBezTo>
                      <a:pt x="56" y="24"/>
                      <a:pt x="57" y="22"/>
                      <a:pt x="56" y="20"/>
                    </a:cubicBezTo>
                    <a:cubicBezTo>
                      <a:pt x="56" y="18"/>
                      <a:pt x="54" y="17"/>
                      <a:pt x="53" y="18"/>
                    </a:cubicBezTo>
                    <a:cubicBezTo>
                      <a:pt x="51" y="18"/>
                      <a:pt x="49" y="16"/>
                      <a:pt x="48" y="16"/>
                    </a:cubicBezTo>
                    <a:cubicBezTo>
                      <a:pt x="48" y="15"/>
                      <a:pt x="48" y="13"/>
                      <a:pt x="49" y="12"/>
                    </a:cubicBezTo>
                    <a:cubicBezTo>
                      <a:pt x="50" y="11"/>
                      <a:pt x="50" y="9"/>
                      <a:pt x="48" y="8"/>
                    </a:cubicBezTo>
                    <a:cubicBezTo>
                      <a:pt x="47" y="6"/>
                      <a:pt x="45" y="6"/>
                      <a:pt x="44" y="7"/>
                    </a:cubicBezTo>
                    <a:cubicBezTo>
                      <a:pt x="42" y="8"/>
                      <a:pt x="40" y="8"/>
                      <a:pt x="39" y="8"/>
                    </a:cubicBezTo>
                    <a:cubicBezTo>
                      <a:pt x="38" y="7"/>
                      <a:pt x="38" y="6"/>
                      <a:pt x="38" y="4"/>
                    </a:cubicBezTo>
                    <a:cubicBezTo>
                      <a:pt x="38" y="3"/>
                      <a:pt x="37" y="1"/>
                      <a:pt x="35" y="1"/>
                    </a:cubicBezTo>
                    <a:cubicBezTo>
                      <a:pt x="33" y="0"/>
                      <a:pt x="31" y="1"/>
                      <a:pt x="30" y="3"/>
                    </a:cubicBezTo>
                    <a:cubicBezTo>
                      <a:pt x="30" y="4"/>
                      <a:pt x="28" y="5"/>
                      <a:pt x="27" y="5"/>
                    </a:cubicBezTo>
                    <a:cubicBezTo>
                      <a:pt x="26" y="6"/>
                      <a:pt x="25" y="4"/>
                      <a:pt x="24" y="3"/>
                    </a:cubicBezTo>
                    <a:cubicBezTo>
                      <a:pt x="24" y="1"/>
                      <a:pt x="22" y="1"/>
                      <a:pt x="20" y="1"/>
                    </a:cubicBezTo>
                    <a:cubicBezTo>
                      <a:pt x="18" y="2"/>
                      <a:pt x="16" y="4"/>
                      <a:pt x="17" y="5"/>
                    </a:cubicBezTo>
                    <a:cubicBezTo>
                      <a:pt x="17" y="7"/>
                      <a:pt x="16" y="9"/>
                      <a:pt x="15" y="10"/>
                    </a:cubicBezTo>
                    <a:cubicBezTo>
                      <a:pt x="14" y="10"/>
                      <a:pt x="13" y="10"/>
                      <a:pt x="12" y="9"/>
                    </a:cubicBezTo>
                    <a:cubicBezTo>
                      <a:pt x="10" y="8"/>
                      <a:pt x="8" y="8"/>
                      <a:pt x="7" y="10"/>
                    </a:cubicBezTo>
                    <a:cubicBezTo>
                      <a:pt x="6" y="11"/>
                      <a:pt x="5" y="13"/>
                      <a:pt x="6" y="14"/>
                    </a:cubicBezTo>
                    <a:close/>
                    <a:moveTo>
                      <a:pt x="23" y="13"/>
                    </a:moveTo>
                    <a:cubicBezTo>
                      <a:pt x="32" y="10"/>
                      <a:pt x="42" y="15"/>
                      <a:pt x="45" y="24"/>
                    </a:cubicBezTo>
                    <a:cubicBezTo>
                      <a:pt x="47" y="33"/>
                      <a:pt x="43" y="42"/>
                      <a:pt x="34" y="45"/>
                    </a:cubicBezTo>
                    <a:cubicBezTo>
                      <a:pt x="25" y="48"/>
                      <a:pt x="15" y="43"/>
                      <a:pt x="13" y="34"/>
                    </a:cubicBezTo>
                    <a:cubicBezTo>
                      <a:pt x="10" y="26"/>
                      <a:pt x="15" y="16"/>
                      <a:pt x="23" y="13"/>
                    </a:cubicBezTo>
                    <a:close/>
                  </a:path>
                </a:pathLst>
              </a:custGeom>
              <a:solidFill>
                <a:srgbClr val="FFD52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Freeform 302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5084781" y="971548"/>
                <a:ext cx="139701" cy="139700"/>
              </a:xfrm>
              <a:custGeom>
                <a:avLst/>
                <a:gdLst>
                  <a:gd name="T0" fmla="*/ 4 w 37"/>
                  <a:gd name="T1" fmla="*/ 9 h 37"/>
                  <a:gd name="T2" fmla="*/ 5 w 37"/>
                  <a:gd name="T3" fmla="*/ 12 h 37"/>
                  <a:gd name="T4" fmla="*/ 2 w 37"/>
                  <a:gd name="T5" fmla="*/ 12 h 37"/>
                  <a:gd name="T6" fmla="*/ 0 w 37"/>
                  <a:gd name="T7" fmla="*/ 14 h 37"/>
                  <a:gd name="T8" fmla="*/ 1 w 37"/>
                  <a:gd name="T9" fmla="*/ 17 h 37"/>
                  <a:gd name="T10" fmla="*/ 3 w 37"/>
                  <a:gd name="T11" fmla="*/ 20 h 37"/>
                  <a:gd name="T12" fmla="*/ 2 w 37"/>
                  <a:gd name="T13" fmla="*/ 21 h 37"/>
                  <a:gd name="T14" fmla="*/ 1 w 37"/>
                  <a:gd name="T15" fmla="*/ 24 h 37"/>
                  <a:gd name="T16" fmla="*/ 3 w 37"/>
                  <a:gd name="T17" fmla="*/ 26 h 37"/>
                  <a:gd name="T18" fmla="*/ 5 w 37"/>
                  <a:gd name="T19" fmla="*/ 26 h 37"/>
                  <a:gd name="T20" fmla="*/ 5 w 37"/>
                  <a:gd name="T21" fmla="*/ 29 h 37"/>
                  <a:gd name="T22" fmla="*/ 6 w 37"/>
                  <a:gd name="T23" fmla="*/ 32 h 37"/>
                  <a:gd name="T24" fmla="*/ 9 w 37"/>
                  <a:gd name="T25" fmla="*/ 33 h 37"/>
                  <a:gd name="T26" fmla="*/ 12 w 37"/>
                  <a:gd name="T27" fmla="*/ 32 h 37"/>
                  <a:gd name="T28" fmla="*/ 12 w 37"/>
                  <a:gd name="T29" fmla="*/ 34 h 37"/>
                  <a:gd name="T30" fmla="*/ 15 w 37"/>
                  <a:gd name="T31" fmla="*/ 37 h 37"/>
                  <a:gd name="T32" fmla="*/ 17 w 37"/>
                  <a:gd name="T33" fmla="*/ 35 h 37"/>
                  <a:gd name="T34" fmla="*/ 20 w 37"/>
                  <a:gd name="T35" fmla="*/ 34 h 37"/>
                  <a:gd name="T36" fmla="*/ 21 w 37"/>
                  <a:gd name="T37" fmla="*/ 35 h 37"/>
                  <a:gd name="T38" fmla="*/ 24 w 37"/>
                  <a:gd name="T39" fmla="*/ 36 h 37"/>
                  <a:gd name="T40" fmla="*/ 26 w 37"/>
                  <a:gd name="T41" fmla="*/ 34 h 37"/>
                  <a:gd name="T42" fmla="*/ 27 w 37"/>
                  <a:gd name="T43" fmla="*/ 31 h 37"/>
                  <a:gd name="T44" fmla="*/ 29 w 37"/>
                  <a:gd name="T45" fmla="*/ 32 h 37"/>
                  <a:gd name="T46" fmla="*/ 32 w 37"/>
                  <a:gd name="T47" fmla="*/ 31 h 37"/>
                  <a:gd name="T48" fmla="*/ 33 w 37"/>
                  <a:gd name="T49" fmla="*/ 28 h 37"/>
                  <a:gd name="T50" fmla="*/ 32 w 37"/>
                  <a:gd name="T51" fmla="*/ 25 h 37"/>
                  <a:gd name="T52" fmla="*/ 35 w 37"/>
                  <a:gd name="T53" fmla="*/ 24 h 37"/>
                  <a:gd name="T54" fmla="*/ 37 w 37"/>
                  <a:gd name="T55" fmla="*/ 22 h 37"/>
                  <a:gd name="T56" fmla="*/ 36 w 37"/>
                  <a:gd name="T57" fmla="*/ 19 h 37"/>
                  <a:gd name="T58" fmla="*/ 34 w 37"/>
                  <a:gd name="T59" fmla="*/ 17 h 37"/>
                  <a:gd name="T60" fmla="*/ 35 w 37"/>
                  <a:gd name="T61" fmla="*/ 15 h 37"/>
                  <a:gd name="T62" fmla="*/ 36 w 37"/>
                  <a:gd name="T63" fmla="*/ 12 h 37"/>
                  <a:gd name="T64" fmla="*/ 34 w 37"/>
                  <a:gd name="T65" fmla="*/ 11 h 37"/>
                  <a:gd name="T66" fmla="*/ 31 w 37"/>
                  <a:gd name="T67" fmla="*/ 9 h 37"/>
                  <a:gd name="T68" fmla="*/ 32 w 37"/>
                  <a:gd name="T69" fmla="*/ 7 h 37"/>
                  <a:gd name="T70" fmla="*/ 31 w 37"/>
                  <a:gd name="T71" fmla="*/ 4 h 37"/>
                  <a:gd name="T72" fmla="*/ 28 w 37"/>
                  <a:gd name="T73" fmla="*/ 4 h 37"/>
                  <a:gd name="T74" fmla="*/ 25 w 37"/>
                  <a:gd name="T75" fmla="*/ 4 h 37"/>
                  <a:gd name="T76" fmla="*/ 25 w 37"/>
                  <a:gd name="T77" fmla="*/ 2 h 37"/>
                  <a:gd name="T78" fmla="*/ 22 w 37"/>
                  <a:gd name="T79" fmla="*/ 0 h 37"/>
                  <a:gd name="T80" fmla="*/ 20 w 37"/>
                  <a:gd name="T81" fmla="*/ 1 h 37"/>
                  <a:gd name="T82" fmla="*/ 17 w 37"/>
                  <a:gd name="T83" fmla="*/ 3 h 37"/>
                  <a:gd name="T84" fmla="*/ 16 w 37"/>
                  <a:gd name="T85" fmla="*/ 1 h 37"/>
                  <a:gd name="T86" fmla="*/ 13 w 37"/>
                  <a:gd name="T87" fmla="*/ 0 h 37"/>
                  <a:gd name="T88" fmla="*/ 11 w 37"/>
                  <a:gd name="T89" fmla="*/ 3 h 37"/>
                  <a:gd name="T90" fmla="*/ 10 w 37"/>
                  <a:gd name="T91" fmla="*/ 6 h 37"/>
                  <a:gd name="T92" fmla="*/ 8 w 37"/>
                  <a:gd name="T93" fmla="*/ 5 h 37"/>
                  <a:gd name="T94" fmla="*/ 5 w 37"/>
                  <a:gd name="T95" fmla="*/ 6 h 37"/>
                  <a:gd name="T96" fmla="*/ 4 w 37"/>
                  <a:gd name="T97" fmla="*/ 9 h 37"/>
                  <a:gd name="T98" fmla="*/ 15 w 37"/>
                  <a:gd name="T99" fmla="*/ 8 h 37"/>
                  <a:gd name="T100" fmla="*/ 29 w 37"/>
                  <a:gd name="T101" fmla="*/ 15 h 37"/>
                  <a:gd name="T102" fmla="*/ 22 w 37"/>
                  <a:gd name="T103" fmla="*/ 29 h 37"/>
                  <a:gd name="T104" fmla="*/ 8 w 37"/>
                  <a:gd name="T105" fmla="*/ 22 h 37"/>
                  <a:gd name="T106" fmla="*/ 15 w 37"/>
                  <a:gd name="T107" fmla="*/ 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37">
                    <a:moveTo>
                      <a:pt x="4" y="9"/>
                    </a:moveTo>
                    <a:cubicBezTo>
                      <a:pt x="5" y="9"/>
                      <a:pt x="5" y="11"/>
                      <a:pt x="5" y="12"/>
                    </a:cubicBezTo>
                    <a:cubicBezTo>
                      <a:pt x="4" y="12"/>
                      <a:pt x="3" y="12"/>
                      <a:pt x="2" y="12"/>
                    </a:cubicBezTo>
                    <a:cubicBezTo>
                      <a:pt x="1" y="12"/>
                      <a:pt x="0" y="13"/>
                      <a:pt x="0" y="14"/>
                    </a:cubicBezTo>
                    <a:cubicBezTo>
                      <a:pt x="0" y="16"/>
                      <a:pt x="0" y="17"/>
                      <a:pt x="1" y="17"/>
                    </a:cubicBezTo>
                    <a:cubicBezTo>
                      <a:pt x="2" y="17"/>
                      <a:pt x="3" y="19"/>
                      <a:pt x="3" y="20"/>
                    </a:cubicBezTo>
                    <a:cubicBezTo>
                      <a:pt x="3" y="20"/>
                      <a:pt x="2" y="21"/>
                      <a:pt x="2" y="21"/>
                    </a:cubicBezTo>
                    <a:cubicBezTo>
                      <a:pt x="1" y="21"/>
                      <a:pt x="0" y="23"/>
                      <a:pt x="1" y="24"/>
                    </a:cubicBezTo>
                    <a:cubicBezTo>
                      <a:pt x="1" y="25"/>
                      <a:pt x="2" y="26"/>
                      <a:pt x="3" y="26"/>
                    </a:cubicBezTo>
                    <a:cubicBezTo>
                      <a:pt x="4" y="26"/>
                      <a:pt x="5" y="26"/>
                      <a:pt x="5" y="26"/>
                    </a:cubicBezTo>
                    <a:cubicBezTo>
                      <a:pt x="6" y="27"/>
                      <a:pt x="6" y="28"/>
                      <a:pt x="5" y="29"/>
                    </a:cubicBezTo>
                    <a:cubicBezTo>
                      <a:pt x="5" y="30"/>
                      <a:pt x="5" y="31"/>
                      <a:pt x="6" y="32"/>
                    </a:cubicBezTo>
                    <a:cubicBezTo>
                      <a:pt x="7" y="33"/>
                      <a:pt x="8" y="33"/>
                      <a:pt x="9" y="33"/>
                    </a:cubicBezTo>
                    <a:cubicBezTo>
                      <a:pt x="10" y="32"/>
                      <a:pt x="11" y="32"/>
                      <a:pt x="12" y="32"/>
                    </a:cubicBezTo>
                    <a:cubicBezTo>
                      <a:pt x="12" y="32"/>
                      <a:pt x="13" y="33"/>
                      <a:pt x="12" y="34"/>
                    </a:cubicBezTo>
                    <a:cubicBezTo>
                      <a:pt x="12" y="35"/>
                      <a:pt x="13" y="36"/>
                      <a:pt x="15" y="37"/>
                    </a:cubicBezTo>
                    <a:cubicBezTo>
                      <a:pt x="16" y="37"/>
                      <a:pt x="17" y="36"/>
                      <a:pt x="17" y="35"/>
                    </a:cubicBezTo>
                    <a:cubicBezTo>
                      <a:pt x="18" y="34"/>
                      <a:pt x="19" y="34"/>
                      <a:pt x="20" y="34"/>
                    </a:cubicBezTo>
                    <a:cubicBezTo>
                      <a:pt x="20" y="34"/>
                      <a:pt x="21" y="34"/>
                      <a:pt x="21" y="35"/>
                    </a:cubicBezTo>
                    <a:cubicBezTo>
                      <a:pt x="22" y="36"/>
                      <a:pt x="23" y="37"/>
                      <a:pt x="24" y="36"/>
                    </a:cubicBezTo>
                    <a:cubicBezTo>
                      <a:pt x="26" y="36"/>
                      <a:pt x="26" y="35"/>
                      <a:pt x="26" y="34"/>
                    </a:cubicBezTo>
                    <a:cubicBezTo>
                      <a:pt x="26" y="33"/>
                      <a:pt x="27" y="31"/>
                      <a:pt x="27" y="31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0" y="32"/>
                      <a:pt x="32" y="32"/>
                      <a:pt x="32" y="31"/>
                    </a:cubicBezTo>
                    <a:cubicBezTo>
                      <a:pt x="33" y="30"/>
                      <a:pt x="34" y="28"/>
                      <a:pt x="33" y="28"/>
                    </a:cubicBezTo>
                    <a:cubicBezTo>
                      <a:pt x="32" y="27"/>
                      <a:pt x="32" y="25"/>
                      <a:pt x="32" y="25"/>
                    </a:cubicBezTo>
                    <a:cubicBezTo>
                      <a:pt x="33" y="24"/>
                      <a:pt x="34" y="24"/>
                      <a:pt x="35" y="24"/>
                    </a:cubicBezTo>
                    <a:cubicBezTo>
                      <a:pt x="36" y="24"/>
                      <a:pt x="37" y="24"/>
                      <a:pt x="37" y="22"/>
                    </a:cubicBezTo>
                    <a:cubicBezTo>
                      <a:pt x="37" y="21"/>
                      <a:pt x="37" y="20"/>
                      <a:pt x="36" y="19"/>
                    </a:cubicBezTo>
                    <a:cubicBezTo>
                      <a:pt x="35" y="19"/>
                      <a:pt x="34" y="18"/>
                      <a:pt x="34" y="17"/>
                    </a:cubicBezTo>
                    <a:cubicBezTo>
                      <a:pt x="34" y="16"/>
                      <a:pt x="35" y="16"/>
                      <a:pt x="35" y="15"/>
                    </a:cubicBezTo>
                    <a:cubicBezTo>
                      <a:pt x="36" y="15"/>
                      <a:pt x="37" y="14"/>
                      <a:pt x="36" y="12"/>
                    </a:cubicBezTo>
                    <a:cubicBezTo>
                      <a:pt x="36" y="11"/>
                      <a:pt x="35" y="10"/>
                      <a:pt x="34" y="11"/>
                    </a:cubicBezTo>
                    <a:cubicBezTo>
                      <a:pt x="33" y="11"/>
                      <a:pt x="31" y="10"/>
                      <a:pt x="31" y="9"/>
                    </a:cubicBezTo>
                    <a:cubicBezTo>
                      <a:pt x="31" y="9"/>
                      <a:pt x="31" y="8"/>
                      <a:pt x="32" y="7"/>
                    </a:cubicBezTo>
                    <a:cubicBezTo>
                      <a:pt x="32" y="7"/>
                      <a:pt x="32" y="5"/>
                      <a:pt x="31" y="4"/>
                    </a:cubicBezTo>
                    <a:cubicBezTo>
                      <a:pt x="30" y="3"/>
                      <a:pt x="29" y="3"/>
                      <a:pt x="28" y="4"/>
                    </a:cubicBezTo>
                    <a:cubicBezTo>
                      <a:pt x="27" y="5"/>
                      <a:pt x="26" y="5"/>
                      <a:pt x="25" y="4"/>
                    </a:cubicBezTo>
                    <a:cubicBezTo>
                      <a:pt x="25" y="4"/>
                      <a:pt x="24" y="3"/>
                      <a:pt x="25" y="2"/>
                    </a:cubicBezTo>
                    <a:cubicBezTo>
                      <a:pt x="25" y="1"/>
                      <a:pt x="24" y="0"/>
                      <a:pt x="22" y="0"/>
                    </a:cubicBezTo>
                    <a:cubicBezTo>
                      <a:pt x="21" y="0"/>
                      <a:pt x="20" y="0"/>
                      <a:pt x="20" y="1"/>
                    </a:cubicBezTo>
                    <a:cubicBezTo>
                      <a:pt x="19" y="2"/>
                      <a:pt x="18" y="3"/>
                      <a:pt x="17" y="3"/>
                    </a:cubicBezTo>
                    <a:cubicBezTo>
                      <a:pt x="17" y="3"/>
                      <a:pt x="16" y="2"/>
                      <a:pt x="16" y="1"/>
                    </a:cubicBezTo>
                    <a:cubicBezTo>
                      <a:pt x="15" y="0"/>
                      <a:pt x="14" y="0"/>
                      <a:pt x="13" y="0"/>
                    </a:cubicBezTo>
                    <a:cubicBezTo>
                      <a:pt x="11" y="1"/>
                      <a:pt x="11" y="2"/>
                      <a:pt x="11" y="3"/>
                    </a:cubicBezTo>
                    <a:cubicBezTo>
                      <a:pt x="11" y="4"/>
                      <a:pt x="10" y="5"/>
                      <a:pt x="10" y="6"/>
                    </a:cubicBezTo>
                    <a:cubicBezTo>
                      <a:pt x="9" y="6"/>
                      <a:pt x="8" y="6"/>
                      <a:pt x="8" y="5"/>
                    </a:cubicBezTo>
                    <a:cubicBezTo>
                      <a:pt x="7" y="4"/>
                      <a:pt x="5" y="5"/>
                      <a:pt x="5" y="6"/>
                    </a:cubicBezTo>
                    <a:cubicBezTo>
                      <a:pt x="4" y="7"/>
                      <a:pt x="3" y="8"/>
                      <a:pt x="4" y="9"/>
                    </a:cubicBezTo>
                    <a:close/>
                    <a:moveTo>
                      <a:pt x="15" y="8"/>
                    </a:moveTo>
                    <a:cubicBezTo>
                      <a:pt x="21" y="6"/>
                      <a:pt x="27" y="9"/>
                      <a:pt x="29" y="15"/>
                    </a:cubicBezTo>
                    <a:cubicBezTo>
                      <a:pt x="31" y="21"/>
                      <a:pt x="27" y="27"/>
                      <a:pt x="22" y="29"/>
                    </a:cubicBezTo>
                    <a:cubicBezTo>
                      <a:pt x="16" y="30"/>
                      <a:pt x="10" y="27"/>
                      <a:pt x="8" y="22"/>
                    </a:cubicBezTo>
                    <a:cubicBezTo>
                      <a:pt x="6" y="16"/>
                      <a:pt x="10" y="10"/>
                      <a:pt x="15" y="8"/>
                    </a:cubicBezTo>
                    <a:close/>
                  </a:path>
                </a:pathLst>
              </a:custGeom>
              <a:solidFill>
                <a:srgbClr val="FFD52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Freeform 303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5084763" y="1111250"/>
                <a:ext cx="109538" cy="104775"/>
              </a:xfrm>
              <a:custGeom>
                <a:avLst/>
                <a:gdLst>
                  <a:gd name="T0" fmla="*/ 3 w 29"/>
                  <a:gd name="T1" fmla="*/ 7 h 28"/>
                  <a:gd name="T2" fmla="*/ 4 w 29"/>
                  <a:gd name="T3" fmla="*/ 9 h 28"/>
                  <a:gd name="T4" fmla="*/ 2 w 29"/>
                  <a:gd name="T5" fmla="*/ 9 h 28"/>
                  <a:gd name="T6" fmla="*/ 0 w 29"/>
                  <a:gd name="T7" fmla="*/ 11 h 28"/>
                  <a:gd name="T8" fmla="*/ 1 w 29"/>
                  <a:gd name="T9" fmla="*/ 13 h 28"/>
                  <a:gd name="T10" fmla="*/ 3 w 29"/>
                  <a:gd name="T11" fmla="*/ 15 h 28"/>
                  <a:gd name="T12" fmla="*/ 1 w 29"/>
                  <a:gd name="T13" fmla="*/ 16 h 28"/>
                  <a:gd name="T14" fmla="*/ 1 w 29"/>
                  <a:gd name="T15" fmla="*/ 19 h 28"/>
                  <a:gd name="T16" fmla="*/ 3 w 29"/>
                  <a:gd name="T17" fmla="*/ 20 h 28"/>
                  <a:gd name="T18" fmla="*/ 4 w 29"/>
                  <a:gd name="T19" fmla="*/ 20 h 28"/>
                  <a:gd name="T20" fmla="*/ 4 w 29"/>
                  <a:gd name="T21" fmla="*/ 23 h 28"/>
                  <a:gd name="T22" fmla="*/ 5 w 29"/>
                  <a:gd name="T23" fmla="*/ 25 h 28"/>
                  <a:gd name="T24" fmla="*/ 7 w 29"/>
                  <a:gd name="T25" fmla="*/ 25 h 28"/>
                  <a:gd name="T26" fmla="*/ 9 w 29"/>
                  <a:gd name="T27" fmla="*/ 25 h 28"/>
                  <a:gd name="T28" fmla="*/ 10 w 29"/>
                  <a:gd name="T29" fmla="*/ 27 h 28"/>
                  <a:gd name="T30" fmla="*/ 11 w 29"/>
                  <a:gd name="T31" fmla="*/ 28 h 28"/>
                  <a:gd name="T32" fmla="*/ 13 w 29"/>
                  <a:gd name="T33" fmla="*/ 27 h 28"/>
                  <a:gd name="T34" fmla="*/ 15 w 29"/>
                  <a:gd name="T35" fmla="*/ 26 h 28"/>
                  <a:gd name="T36" fmla="*/ 17 w 29"/>
                  <a:gd name="T37" fmla="*/ 27 h 28"/>
                  <a:gd name="T38" fmla="*/ 19 w 29"/>
                  <a:gd name="T39" fmla="*/ 28 h 28"/>
                  <a:gd name="T40" fmla="*/ 20 w 29"/>
                  <a:gd name="T41" fmla="*/ 26 h 28"/>
                  <a:gd name="T42" fmla="*/ 21 w 29"/>
                  <a:gd name="T43" fmla="*/ 24 h 28"/>
                  <a:gd name="T44" fmla="*/ 23 w 29"/>
                  <a:gd name="T45" fmla="*/ 24 h 28"/>
                  <a:gd name="T46" fmla="*/ 25 w 29"/>
                  <a:gd name="T47" fmla="*/ 24 h 28"/>
                  <a:gd name="T48" fmla="*/ 25 w 29"/>
                  <a:gd name="T49" fmla="*/ 21 h 28"/>
                  <a:gd name="T50" fmla="*/ 25 w 29"/>
                  <a:gd name="T51" fmla="*/ 19 h 28"/>
                  <a:gd name="T52" fmla="*/ 27 w 29"/>
                  <a:gd name="T53" fmla="*/ 19 h 28"/>
                  <a:gd name="T54" fmla="*/ 29 w 29"/>
                  <a:gd name="T55" fmla="*/ 17 h 28"/>
                  <a:gd name="T56" fmla="*/ 28 w 29"/>
                  <a:gd name="T57" fmla="*/ 15 h 28"/>
                  <a:gd name="T58" fmla="*/ 26 w 29"/>
                  <a:gd name="T59" fmla="*/ 13 h 28"/>
                  <a:gd name="T60" fmla="*/ 27 w 29"/>
                  <a:gd name="T61" fmla="*/ 12 h 28"/>
                  <a:gd name="T62" fmla="*/ 28 w 29"/>
                  <a:gd name="T63" fmla="*/ 10 h 28"/>
                  <a:gd name="T64" fmla="*/ 26 w 29"/>
                  <a:gd name="T65" fmla="*/ 8 h 28"/>
                  <a:gd name="T66" fmla="*/ 24 w 29"/>
                  <a:gd name="T67" fmla="*/ 7 h 28"/>
                  <a:gd name="T68" fmla="*/ 25 w 29"/>
                  <a:gd name="T69" fmla="*/ 6 h 28"/>
                  <a:gd name="T70" fmla="*/ 24 w 29"/>
                  <a:gd name="T71" fmla="*/ 3 h 28"/>
                  <a:gd name="T72" fmla="*/ 22 w 29"/>
                  <a:gd name="T73" fmla="*/ 3 h 28"/>
                  <a:gd name="T74" fmla="*/ 19 w 29"/>
                  <a:gd name="T75" fmla="*/ 3 h 28"/>
                  <a:gd name="T76" fmla="*/ 19 w 29"/>
                  <a:gd name="T77" fmla="*/ 2 h 28"/>
                  <a:gd name="T78" fmla="*/ 17 w 29"/>
                  <a:gd name="T79" fmla="*/ 0 h 28"/>
                  <a:gd name="T80" fmla="*/ 15 w 29"/>
                  <a:gd name="T81" fmla="*/ 1 h 28"/>
                  <a:gd name="T82" fmla="*/ 13 w 29"/>
                  <a:gd name="T83" fmla="*/ 2 h 28"/>
                  <a:gd name="T84" fmla="*/ 12 w 29"/>
                  <a:gd name="T85" fmla="*/ 1 h 28"/>
                  <a:gd name="T86" fmla="*/ 10 w 29"/>
                  <a:gd name="T87" fmla="*/ 0 h 28"/>
                  <a:gd name="T88" fmla="*/ 9 w 29"/>
                  <a:gd name="T89" fmla="*/ 2 h 28"/>
                  <a:gd name="T90" fmla="*/ 8 w 29"/>
                  <a:gd name="T91" fmla="*/ 4 h 28"/>
                  <a:gd name="T92" fmla="*/ 6 w 29"/>
                  <a:gd name="T93" fmla="*/ 4 h 28"/>
                  <a:gd name="T94" fmla="*/ 4 w 29"/>
                  <a:gd name="T95" fmla="*/ 4 h 28"/>
                  <a:gd name="T96" fmla="*/ 3 w 29"/>
                  <a:gd name="T97" fmla="*/ 7 h 28"/>
                  <a:gd name="T98" fmla="*/ 12 w 29"/>
                  <a:gd name="T99" fmla="*/ 6 h 28"/>
                  <a:gd name="T100" fmla="*/ 22 w 29"/>
                  <a:gd name="T101" fmla="*/ 12 h 28"/>
                  <a:gd name="T102" fmla="*/ 17 w 29"/>
                  <a:gd name="T103" fmla="*/ 22 h 28"/>
                  <a:gd name="T104" fmla="*/ 6 w 29"/>
                  <a:gd name="T105" fmla="*/ 17 h 28"/>
                  <a:gd name="T106" fmla="*/ 12 w 29"/>
                  <a:gd name="T107" fmla="*/ 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9" h="28">
                    <a:moveTo>
                      <a:pt x="3" y="7"/>
                    </a:moveTo>
                    <a:cubicBezTo>
                      <a:pt x="4" y="7"/>
                      <a:pt x="4" y="9"/>
                      <a:pt x="4" y="9"/>
                    </a:cubicBezTo>
                    <a:cubicBezTo>
                      <a:pt x="4" y="9"/>
                      <a:pt x="3" y="10"/>
                      <a:pt x="2" y="9"/>
                    </a:cubicBezTo>
                    <a:cubicBezTo>
                      <a:pt x="1" y="9"/>
                      <a:pt x="0" y="10"/>
                      <a:pt x="0" y="11"/>
                    </a:cubicBezTo>
                    <a:cubicBezTo>
                      <a:pt x="0" y="12"/>
                      <a:pt x="0" y="13"/>
                      <a:pt x="1" y="13"/>
                    </a:cubicBezTo>
                    <a:cubicBezTo>
                      <a:pt x="2" y="13"/>
                      <a:pt x="3" y="15"/>
                      <a:pt x="3" y="15"/>
                    </a:cubicBezTo>
                    <a:cubicBezTo>
                      <a:pt x="3" y="16"/>
                      <a:pt x="2" y="16"/>
                      <a:pt x="1" y="16"/>
                    </a:cubicBezTo>
                    <a:cubicBezTo>
                      <a:pt x="1" y="17"/>
                      <a:pt x="0" y="18"/>
                      <a:pt x="1" y="19"/>
                    </a:cubicBezTo>
                    <a:cubicBezTo>
                      <a:pt x="1" y="20"/>
                      <a:pt x="2" y="20"/>
                      <a:pt x="3" y="20"/>
                    </a:cubicBezTo>
                    <a:cubicBezTo>
                      <a:pt x="3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4" y="23"/>
                    </a:cubicBezTo>
                    <a:cubicBezTo>
                      <a:pt x="4" y="23"/>
                      <a:pt x="4" y="24"/>
                      <a:pt x="5" y="25"/>
                    </a:cubicBezTo>
                    <a:cubicBezTo>
                      <a:pt x="5" y="26"/>
                      <a:pt x="7" y="26"/>
                      <a:pt x="7" y="25"/>
                    </a:cubicBezTo>
                    <a:cubicBezTo>
                      <a:pt x="8" y="25"/>
                      <a:pt x="9" y="25"/>
                      <a:pt x="9" y="25"/>
                    </a:cubicBezTo>
                    <a:cubicBezTo>
                      <a:pt x="10" y="25"/>
                      <a:pt x="10" y="26"/>
                      <a:pt x="10" y="27"/>
                    </a:cubicBezTo>
                    <a:cubicBezTo>
                      <a:pt x="10" y="27"/>
                      <a:pt x="10" y="28"/>
                      <a:pt x="11" y="28"/>
                    </a:cubicBezTo>
                    <a:cubicBezTo>
                      <a:pt x="12" y="28"/>
                      <a:pt x="13" y="28"/>
                      <a:pt x="13" y="27"/>
                    </a:cubicBezTo>
                    <a:cubicBezTo>
                      <a:pt x="14" y="27"/>
                      <a:pt x="15" y="26"/>
                      <a:pt x="15" y="26"/>
                    </a:cubicBezTo>
                    <a:cubicBezTo>
                      <a:pt x="16" y="26"/>
                      <a:pt x="16" y="26"/>
                      <a:pt x="17" y="27"/>
                    </a:cubicBezTo>
                    <a:cubicBezTo>
                      <a:pt x="17" y="28"/>
                      <a:pt x="18" y="28"/>
                      <a:pt x="19" y="28"/>
                    </a:cubicBezTo>
                    <a:cubicBezTo>
                      <a:pt x="20" y="28"/>
                      <a:pt x="20" y="27"/>
                      <a:pt x="20" y="26"/>
                    </a:cubicBezTo>
                    <a:cubicBezTo>
                      <a:pt x="20" y="25"/>
                      <a:pt x="21" y="24"/>
                      <a:pt x="21" y="24"/>
                    </a:cubicBezTo>
                    <a:cubicBezTo>
                      <a:pt x="21" y="24"/>
                      <a:pt x="22" y="24"/>
                      <a:pt x="23" y="24"/>
                    </a:cubicBezTo>
                    <a:cubicBezTo>
                      <a:pt x="23" y="25"/>
                      <a:pt x="24" y="25"/>
                      <a:pt x="25" y="24"/>
                    </a:cubicBezTo>
                    <a:cubicBezTo>
                      <a:pt x="26" y="23"/>
                      <a:pt x="26" y="22"/>
                      <a:pt x="25" y="21"/>
                    </a:cubicBezTo>
                    <a:cubicBezTo>
                      <a:pt x="25" y="21"/>
                      <a:pt x="25" y="20"/>
                      <a:pt x="25" y="19"/>
                    </a:cubicBezTo>
                    <a:cubicBezTo>
                      <a:pt x="25" y="19"/>
                      <a:pt x="26" y="19"/>
                      <a:pt x="27" y="19"/>
                    </a:cubicBezTo>
                    <a:cubicBezTo>
                      <a:pt x="28" y="19"/>
                      <a:pt x="28" y="18"/>
                      <a:pt x="29" y="17"/>
                    </a:cubicBezTo>
                    <a:cubicBezTo>
                      <a:pt x="29" y="16"/>
                      <a:pt x="28" y="15"/>
                      <a:pt x="28" y="15"/>
                    </a:cubicBezTo>
                    <a:cubicBezTo>
                      <a:pt x="27" y="15"/>
                      <a:pt x="26" y="14"/>
                      <a:pt x="26" y="13"/>
                    </a:cubicBezTo>
                    <a:cubicBezTo>
                      <a:pt x="26" y="13"/>
                      <a:pt x="27" y="12"/>
                      <a:pt x="27" y="12"/>
                    </a:cubicBezTo>
                    <a:cubicBezTo>
                      <a:pt x="28" y="12"/>
                      <a:pt x="28" y="11"/>
                      <a:pt x="28" y="10"/>
                    </a:cubicBezTo>
                    <a:cubicBezTo>
                      <a:pt x="28" y="9"/>
                      <a:pt x="27" y="8"/>
                      <a:pt x="26" y="8"/>
                    </a:cubicBezTo>
                    <a:cubicBezTo>
                      <a:pt x="26" y="9"/>
                      <a:pt x="24" y="8"/>
                      <a:pt x="24" y="7"/>
                    </a:cubicBezTo>
                    <a:cubicBezTo>
                      <a:pt x="24" y="7"/>
                      <a:pt x="24" y="6"/>
                      <a:pt x="25" y="6"/>
                    </a:cubicBezTo>
                    <a:cubicBezTo>
                      <a:pt x="25" y="5"/>
                      <a:pt x="25" y="4"/>
                      <a:pt x="24" y="3"/>
                    </a:cubicBezTo>
                    <a:cubicBezTo>
                      <a:pt x="23" y="3"/>
                      <a:pt x="22" y="3"/>
                      <a:pt x="22" y="3"/>
                    </a:cubicBezTo>
                    <a:cubicBezTo>
                      <a:pt x="21" y="4"/>
                      <a:pt x="20" y="4"/>
                      <a:pt x="19" y="3"/>
                    </a:cubicBezTo>
                    <a:cubicBezTo>
                      <a:pt x="19" y="3"/>
                      <a:pt x="19" y="2"/>
                      <a:pt x="19" y="2"/>
                    </a:cubicBezTo>
                    <a:cubicBezTo>
                      <a:pt x="19" y="1"/>
                      <a:pt x="18" y="0"/>
                      <a:pt x="17" y="0"/>
                    </a:cubicBezTo>
                    <a:cubicBezTo>
                      <a:pt x="16" y="0"/>
                      <a:pt x="15" y="0"/>
                      <a:pt x="15" y="1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3" y="2"/>
                      <a:pt x="12" y="2"/>
                      <a:pt x="12" y="1"/>
                    </a:cubicBezTo>
                    <a:cubicBezTo>
                      <a:pt x="12" y="0"/>
                      <a:pt x="11" y="0"/>
                      <a:pt x="10" y="0"/>
                    </a:cubicBezTo>
                    <a:cubicBezTo>
                      <a:pt x="9" y="1"/>
                      <a:pt x="8" y="2"/>
                      <a:pt x="9" y="2"/>
                    </a:cubicBezTo>
                    <a:cubicBezTo>
                      <a:pt x="9" y="3"/>
                      <a:pt x="8" y="4"/>
                      <a:pt x="8" y="4"/>
                    </a:cubicBezTo>
                    <a:cubicBezTo>
                      <a:pt x="7" y="5"/>
                      <a:pt x="7" y="4"/>
                      <a:pt x="6" y="4"/>
                    </a:cubicBezTo>
                    <a:cubicBezTo>
                      <a:pt x="5" y="3"/>
                      <a:pt x="4" y="4"/>
                      <a:pt x="4" y="4"/>
                    </a:cubicBezTo>
                    <a:cubicBezTo>
                      <a:pt x="3" y="5"/>
                      <a:pt x="3" y="6"/>
                      <a:pt x="3" y="7"/>
                    </a:cubicBezTo>
                    <a:close/>
                    <a:moveTo>
                      <a:pt x="12" y="6"/>
                    </a:moveTo>
                    <a:cubicBezTo>
                      <a:pt x="16" y="5"/>
                      <a:pt x="21" y="7"/>
                      <a:pt x="22" y="12"/>
                    </a:cubicBezTo>
                    <a:cubicBezTo>
                      <a:pt x="24" y="16"/>
                      <a:pt x="21" y="21"/>
                      <a:pt x="17" y="22"/>
                    </a:cubicBezTo>
                    <a:cubicBezTo>
                      <a:pt x="13" y="23"/>
                      <a:pt x="8" y="21"/>
                      <a:pt x="6" y="17"/>
                    </a:cubicBezTo>
                    <a:cubicBezTo>
                      <a:pt x="5" y="12"/>
                      <a:pt x="7" y="8"/>
                      <a:pt x="12" y="6"/>
                    </a:cubicBezTo>
                    <a:close/>
                  </a:path>
                </a:pathLst>
              </a:custGeom>
              <a:solidFill>
                <a:srgbClr val="FFD52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0" name="组合 19"/>
          <p:cNvGrpSpPr/>
          <p:nvPr>
            <p:custDataLst>
              <p:tags r:id="rId7"/>
            </p:custDataLst>
          </p:nvPr>
        </p:nvGrpSpPr>
        <p:grpSpPr>
          <a:xfrm>
            <a:off x="940903" y="4260771"/>
            <a:ext cx="662952" cy="662952"/>
            <a:chOff x="8125599" y="1434035"/>
            <a:chExt cx="2036802" cy="2036802"/>
          </a:xfrm>
          <a:solidFill>
            <a:schemeClr val="bg1"/>
          </a:solidFill>
        </p:grpSpPr>
        <p:sp>
          <p:nvSpPr>
            <p:cNvPr id="21" name="椭圆 20"/>
            <p:cNvSpPr/>
            <p:nvPr>
              <p:custDataLst>
                <p:tags r:id="rId8"/>
              </p:custDataLst>
            </p:nvPr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22" name="Freeform 9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 rot="19469485">
              <a:off x="8577909" y="1818269"/>
              <a:ext cx="1162163" cy="1238355"/>
            </a:xfrm>
            <a:custGeom>
              <a:avLst/>
              <a:gdLst>
                <a:gd name="T0" fmla="*/ 147 w 243"/>
                <a:gd name="T1" fmla="*/ 240 h 269"/>
                <a:gd name="T2" fmla="*/ 90 w 243"/>
                <a:gd name="T3" fmla="*/ 234 h 269"/>
                <a:gd name="T4" fmla="*/ 147 w 243"/>
                <a:gd name="T5" fmla="*/ 227 h 269"/>
                <a:gd name="T6" fmla="*/ 147 w 243"/>
                <a:gd name="T7" fmla="*/ 243 h 269"/>
                <a:gd name="T8" fmla="*/ 90 w 243"/>
                <a:gd name="T9" fmla="*/ 252 h 269"/>
                <a:gd name="T10" fmla="*/ 96 w 243"/>
                <a:gd name="T11" fmla="*/ 256 h 269"/>
                <a:gd name="T12" fmla="*/ 105 w 243"/>
                <a:gd name="T13" fmla="*/ 262 h 269"/>
                <a:gd name="T14" fmla="*/ 126 w 243"/>
                <a:gd name="T15" fmla="*/ 269 h 269"/>
                <a:gd name="T16" fmla="*/ 138 w 243"/>
                <a:gd name="T17" fmla="*/ 261 h 269"/>
                <a:gd name="T18" fmla="*/ 147 w 243"/>
                <a:gd name="T19" fmla="*/ 256 h 269"/>
                <a:gd name="T20" fmla="*/ 147 w 243"/>
                <a:gd name="T21" fmla="*/ 243 h 269"/>
                <a:gd name="T22" fmla="*/ 128 w 243"/>
                <a:gd name="T23" fmla="*/ 32 h 269"/>
                <a:gd name="T24" fmla="*/ 122 w 243"/>
                <a:gd name="T25" fmla="*/ 0 h 269"/>
                <a:gd name="T26" fmla="*/ 115 w 243"/>
                <a:gd name="T27" fmla="*/ 32 h 269"/>
                <a:gd name="T28" fmla="*/ 54 w 243"/>
                <a:gd name="T29" fmla="*/ 63 h 269"/>
                <a:gd name="T30" fmla="*/ 63 w 243"/>
                <a:gd name="T31" fmla="*/ 63 h 269"/>
                <a:gd name="T32" fmla="*/ 45 w 243"/>
                <a:gd name="T33" fmla="*/ 36 h 269"/>
                <a:gd name="T34" fmla="*/ 36 w 243"/>
                <a:gd name="T35" fmla="*/ 45 h 269"/>
                <a:gd name="T36" fmla="*/ 38 w 243"/>
                <a:gd name="T37" fmla="*/ 122 h 269"/>
                <a:gd name="T38" fmla="*/ 6 w 243"/>
                <a:gd name="T39" fmla="*/ 115 h 269"/>
                <a:gd name="T40" fmla="*/ 6 w 243"/>
                <a:gd name="T41" fmla="*/ 128 h 269"/>
                <a:gd name="T42" fmla="*/ 38 w 243"/>
                <a:gd name="T43" fmla="*/ 122 h 269"/>
                <a:gd name="T44" fmla="*/ 36 w 243"/>
                <a:gd name="T45" fmla="*/ 199 h 269"/>
                <a:gd name="T46" fmla="*/ 40 w 243"/>
                <a:gd name="T47" fmla="*/ 209 h 269"/>
                <a:gd name="T48" fmla="*/ 63 w 243"/>
                <a:gd name="T49" fmla="*/ 189 h 269"/>
                <a:gd name="T50" fmla="*/ 54 w 243"/>
                <a:gd name="T51" fmla="*/ 180 h 269"/>
                <a:gd name="T52" fmla="*/ 180 w 243"/>
                <a:gd name="T53" fmla="*/ 180 h 269"/>
                <a:gd name="T54" fmla="*/ 199 w 243"/>
                <a:gd name="T55" fmla="*/ 208 h 269"/>
                <a:gd name="T56" fmla="*/ 208 w 243"/>
                <a:gd name="T57" fmla="*/ 208 h 269"/>
                <a:gd name="T58" fmla="*/ 189 w 243"/>
                <a:gd name="T59" fmla="*/ 180 h 269"/>
                <a:gd name="T60" fmla="*/ 211 w 243"/>
                <a:gd name="T61" fmla="*/ 115 h 269"/>
                <a:gd name="T62" fmla="*/ 211 w 243"/>
                <a:gd name="T63" fmla="*/ 128 h 269"/>
                <a:gd name="T64" fmla="*/ 243 w 243"/>
                <a:gd name="T65" fmla="*/ 122 h 269"/>
                <a:gd name="T66" fmla="*/ 185 w 243"/>
                <a:gd name="T67" fmla="*/ 65 h 269"/>
                <a:gd name="T68" fmla="*/ 208 w 243"/>
                <a:gd name="T69" fmla="*/ 45 h 269"/>
                <a:gd name="T70" fmla="*/ 199 w 243"/>
                <a:gd name="T71" fmla="*/ 36 h 269"/>
                <a:gd name="T72" fmla="*/ 180 w 243"/>
                <a:gd name="T73" fmla="*/ 63 h 269"/>
                <a:gd name="T74" fmla="*/ 154 w 243"/>
                <a:gd name="T75" fmla="*/ 218 h 269"/>
                <a:gd name="T76" fmla="*/ 96 w 243"/>
                <a:gd name="T77" fmla="*/ 224 h 269"/>
                <a:gd name="T78" fmla="*/ 96 w 243"/>
                <a:gd name="T79" fmla="*/ 211 h 269"/>
                <a:gd name="T80" fmla="*/ 122 w 243"/>
                <a:gd name="T81" fmla="*/ 58 h 269"/>
                <a:gd name="T82" fmla="*/ 148 w 243"/>
                <a:gd name="T83" fmla="*/ 211 h 269"/>
                <a:gd name="T84" fmla="*/ 107 w 243"/>
                <a:gd name="T85" fmla="*/ 76 h 269"/>
                <a:gd name="T86" fmla="*/ 67 w 243"/>
                <a:gd name="T87" fmla="*/ 111 h 269"/>
                <a:gd name="T88" fmla="*/ 72 w 243"/>
                <a:gd name="T89" fmla="*/ 117 h 269"/>
                <a:gd name="T90" fmla="*/ 104 w 243"/>
                <a:gd name="T91" fmla="*/ 82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3" h="269">
                  <a:moveTo>
                    <a:pt x="154" y="234"/>
                  </a:moveTo>
                  <a:cubicBezTo>
                    <a:pt x="154" y="237"/>
                    <a:pt x="151" y="240"/>
                    <a:pt x="147" y="240"/>
                  </a:cubicBezTo>
                  <a:cubicBezTo>
                    <a:pt x="96" y="240"/>
                    <a:pt x="96" y="240"/>
                    <a:pt x="96" y="240"/>
                  </a:cubicBezTo>
                  <a:cubicBezTo>
                    <a:pt x="92" y="240"/>
                    <a:pt x="90" y="237"/>
                    <a:pt x="90" y="234"/>
                  </a:cubicBezTo>
                  <a:cubicBezTo>
                    <a:pt x="90" y="230"/>
                    <a:pt x="92" y="227"/>
                    <a:pt x="96" y="227"/>
                  </a:cubicBezTo>
                  <a:cubicBezTo>
                    <a:pt x="147" y="227"/>
                    <a:pt x="147" y="227"/>
                    <a:pt x="147" y="227"/>
                  </a:cubicBezTo>
                  <a:cubicBezTo>
                    <a:pt x="151" y="227"/>
                    <a:pt x="154" y="230"/>
                    <a:pt x="154" y="234"/>
                  </a:cubicBezTo>
                  <a:close/>
                  <a:moveTo>
                    <a:pt x="147" y="243"/>
                  </a:moveTo>
                  <a:cubicBezTo>
                    <a:pt x="96" y="243"/>
                    <a:pt x="96" y="243"/>
                    <a:pt x="96" y="243"/>
                  </a:cubicBezTo>
                  <a:cubicBezTo>
                    <a:pt x="92" y="243"/>
                    <a:pt x="89" y="247"/>
                    <a:pt x="90" y="252"/>
                  </a:cubicBezTo>
                  <a:cubicBezTo>
                    <a:pt x="91" y="254"/>
                    <a:pt x="93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100" y="256"/>
                    <a:pt x="103" y="258"/>
                    <a:pt x="105" y="261"/>
                  </a:cubicBezTo>
                  <a:cubicBezTo>
                    <a:pt x="105" y="262"/>
                    <a:pt x="105" y="262"/>
                    <a:pt x="105" y="262"/>
                  </a:cubicBezTo>
                  <a:cubicBezTo>
                    <a:pt x="107" y="266"/>
                    <a:pt x="112" y="269"/>
                    <a:pt x="117" y="269"/>
                  </a:cubicBezTo>
                  <a:cubicBezTo>
                    <a:pt x="126" y="269"/>
                    <a:pt x="126" y="269"/>
                    <a:pt x="126" y="269"/>
                  </a:cubicBezTo>
                  <a:cubicBezTo>
                    <a:pt x="131" y="269"/>
                    <a:pt x="136" y="266"/>
                    <a:pt x="138" y="262"/>
                  </a:cubicBezTo>
                  <a:cubicBezTo>
                    <a:pt x="138" y="261"/>
                    <a:pt x="138" y="261"/>
                    <a:pt x="138" y="261"/>
                  </a:cubicBezTo>
                  <a:cubicBezTo>
                    <a:pt x="140" y="258"/>
                    <a:pt x="143" y="256"/>
                    <a:pt x="147" y="256"/>
                  </a:cubicBezTo>
                  <a:cubicBezTo>
                    <a:pt x="147" y="256"/>
                    <a:pt x="147" y="256"/>
                    <a:pt x="147" y="256"/>
                  </a:cubicBezTo>
                  <a:cubicBezTo>
                    <a:pt x="150" y="256"/>
                    <a:pt x="152" y="254"/>
                    <a:pt x="153" y="252"/>
                  </a:cubicBezTo>
                  <a:cubicBezTo>
                    <a:pt x="155" y="247"/>
                    <a:pt x="151" y="243"/>
                    <a:pt x="147" y="243"/>
                  </a:cubicBezTo>
                  <a:close/>
                  <a:moveTo>
                    <a:pt x="122" y="38"/>
                  </a:moveTo>
                  <a:cubicBezTo>
                    <a:pt x="125" y="38"/>
                    <a:pt x="128" y="36"/>
                    <a:pt x="128" y="32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ubicBezTo>
                    <a:pt x="118" y="0"/>
                    <a:pt x="115" y="3"/>
                    <a:pt x="115" y="6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6"/>
                    <a:pt x="118" y="38"/>
                    <a:pt x="122" y="38"/>
                  </a:cubicBezTo>
                  <a:close/>
                  <a:moveTo>
                    <a:pt x="54" y="63"/>
                  </a:moveTo>
                  <a:cubicBezTo>
                    <a:pt x="55" y="64"/>
                    <a:pt x="57" y="65"/>
                    <a:pt x="58" y="65"/>
                  </a:cubicBezTo>
                  <a:cubicBezTo>
                    <a:pt x="60" y="65"/>
                    <a:pt x="62" y="64"/>
                    <a:pt x="63" y="63"/>
                  </a:cubicBezTo>
                  <a:cubicBezTo>
                    <a:pt x="65" y="60"/>
                    <a:pt x="65" y="56"/>
                    <a:pt x="63" y="54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2" y="33"/>
                    <a:pt x="38" y="33"/>
                    <a:pt x="36" y="36"/>
                  </a:cubicBezTo>
                  <a:cubicBezTo>
                    <a:pt x="33" y="38"/>
                    <a:pt x="33" y="42"/>
                    <a:pt x="36" y="45"/>
                  </a:cubicBezTo>
                  <a:lnTo>
                    <a:pt x="54" y="63"/>
                  </a:lnTo>
                  <a:close/>
                  <a:moveTo>
                    <a:pt x="38" y="122"/>
                  </a:moveTo>
                  <a:cubicBezTo>
                    <a:pt x="38" y="118"/>
                    <a:pt x="36" y="115"/>
                    <a:pt x="32" y="115"/>
                  </a:cubicBezTo>
                  <a:cubicBezTo>
                    <a:pt x="6" y="115"/>
                    <a:pt x="6" y="115"/>
                    <a:pt x="6" y="115"/>
                  </a:cubicBezTo>
                  <a:cubicBezTo>
                    <a:pt x="3" y="115"/>
                    <a:pt x="0" y="118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6" y="128"/>
                    <a:pt x="38" y="125"/>
                    <a:pt x="38" y="122"/>
                  </a:cubicBezTo>
                  <a:close/>
                  <a:moveTo>
                    <a:pt x="54" y="180"/>
                  </a:moveTo>
                  <a:cubicBezTo>
                    <a:pt x="36" y="199"/>
                    <a:pt x="36" y="199"/>
                    <a:pt x="36" y="199"/>
                  </a:cubicBezTo>
                  <a:cubicBezTo>
                    <a:pt x="33" y="201"/>
                    <a:pt x="33" y="205"/>
                    <a:pt x="36" y="208"/>
                  </a:cubicBezTo>
                  <a:cubicBezTo>
                    <a:pt x="37" y="209"/>
                    <a:pt x="39" y="209"/>
                    <a:pt x="40" y="209"/>
                  </a:cubicBezTo>
                  <a:cubicBezTo>
                    <a:pt x="42" y="209"/>
                    <a:pt x="43" y="209"/>
                    <a:pt x="45" y="208"/>
                  </a:cubicBezTo>
                  <a:cubicBezTo>
                    <a:pt x="63" y="189"/>
                    <a:pt x="63" y="189"/>
                    <a:pt x="63" y="189"/>
                  </a:cubicBezTo>
                  <a:cubicBezTo>
                    <a:pt x="65" y="187"/>
                    <a:pt x="65" y="183"/>
                    <a:pt x="63" y="180"/>
                  </a:cubicBezTo>
                  <a:cubicBezTo>
                    <a:pt x="60" y="178"/>
                    <a:pt x="56" y="178"/>
                    <a:pt x="54" y="180"/>
                  </a:cubicBezTo>
                  <a:close/>
                  <a:moveTo>
                    <a:pt x="189" y="180"/>
                  </a:moveTo>
                  <a:cubicBezTo>
                    <a:pt x="187" y="178"/>
                    <a:pt x="183" y="178"/>
                    <a:pt x="180" y="180"/>
                  </a:cubicBezTo>
                  <a:cubicBezTo>
                    <a:pt x="178" y="183"/>
                    <a:pt x="178" y="187"/>
                    <a:pt x="180" y="189"/>
                  </a:cubicBezTo>
                  <a:cubicBezTo>
                    <a:pt x="199" y="208"/>
                    <a:pt x="199" y="208"/>
                    <a:pt x="199" y="208"/>
                  </a:cubicBezTo>
                  <a:cubicBezTo>
                    <a:pt x="200" y="209"/>
                    <a:pt x="201" y="209"/>
                    <a:pt x="203" y="209"/>
                  </a:cubicBezTo>
                  <a:cubicBezTo>
                    <a:pt x="205" y="209"/>
                    <a:pt x="206" y="209"/>
                    <a:pt x="208" y="208"/>
                  </a:cubicBezTo>
                  <a:cubicBezTo>
                    <a:pt x="210" y="205"/>
                    <a:pt x="210" y="201"/>
                    <a:pt x="208" y="199"/>
                  </a:cubicBezTo>
                  <a:lnTo>
                    <a:pt x="189" y="180"/>
                  </a:lnTo>
                  <a:close/>
                  <a:moveTo>
                    <a:pt x="237" y="115"/>
                  </a:moveTo>
                  <a:cubicBezTo>
                    <a:pt x="211" y="115"/>
                    <a:pt x="211" y="115"/>
                    <a:pt x="211" y="115"/>
                  </a:cubicBezTo>
                  <a:cubicBezTo>
                    <a:pt x="208" y="115"/>
                    <a:pt x="205" y="118"/>
                    <a:pt x="205" y="122"/>
                  </a:cubicBezTo>
                  <a:cubicBezTo>
                    <a:pt x="205" y="125"/>
                    <a:pt x="208" y="128"/>
                    <a:pt x="211" y="128"/>
                  </a:cubicBezTo>
                  <a:cubicBezTo>
                    <a:pt x="237" y="128"/>
                    <a:pt x="237" y="128"/>
                    <a:pt x="237" y="128"/>
                  </a:cubicBezTo>
                  <a:cubicBezTo>
                    <a:pt x="240" y="128"/>
                    <a:pt x="243" y="125"/>
                    <a:pt x="243" y="122"/>
                  </a:cubicBezTo>
                  <a:cubicBezTo>
                    <a:pt x="243" y="118"/>
                    <a:pt x="240" y="115"/>
                    <a:pt x="237" y="115"/>
                  </a:cubicBezTo>
                  <a:close/>
                  <a:moveTo>
                    <a:pt x="185" y="65"/>
                  </a:moveTo>
                  <a:cubicBezTo>
                    <a:pt x="187" y="65"/>
                    <a:pt x="188" y="64"/>
                    <a:pt x="189" y="63"/>
                  </a:cubicBezTo>
                  <a:cubicBezTo>
                    <a:pt x="208" y="45"/>
                    <a:pt x="208" y="45"/>
                    <a:pt x="208" y="45"/>
                  </a:cubicBezTo>
                  <a:cubicBezTo>
                    <a:pt x="210" y="42"/>
                    <a:pt x="210" y="38"/>
                    <a:pt x="208" y="36"/>
                  </a:cubicBezTo>
                  <a:cubicBezTo>
                    <a:pt x="205" y="33"/>
                    <a:pt x="201" y="33"/>
                    <a:pt x="199" y="36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78" y="56"/>
                    <a:pt x="178" y="60"/>
                    <a:pt x="180" y="63"/>
                  </a:cubicBezTo>
                  <a:cubicBezTo>
                    <a:pt x="182" y="64"/>
                    <a:pt x="183" y="65"/>
                    <a:pt x="185" y="65"/>
                  </a:cubicBezTo>
                  <a:close/>
                  <a:moveTo>
                    <a:pt x="154" y="218"/>
                  </a:moveTo>
                  <a:cubicBezTo>
                    <a:pt x="154" y="221"/>
                    <a:pt x="151" y="224"/>
                    <a:pt x="147" y="224"/>
                  </a:cubicBezTo>
                  <a:cubicBezTo>
                    <a:pt x="96" y="224"/>
                    <a:pt x="96" y="224"/>
                    <a:pt x="96" y="224"/>
                  </a:cubicBezTo>
                  <a:cubicBezTo>
                    <a:pt x="92" y="224"/>
                    <a:pt x="90" y="221"/>
                    <a:pt x="90" y="218"/>
                  </a:cubicBezTo>
                  <a:cubicBezTo>
                    <a:pt x="90" y="214"/>
                    <a:pt x="92" y="211"/>
                    <a:pt x="96" y="211"/>
                  </a:cubicBezTo>
                  <a:cubicBezTo>
                    <a:pt x="92" y="175"/>
                    <a:pt x="54" y="167"/>
                    <a:pt x="54" y="125"/>
                  </a:cubicBezTo>
                  <a:cubicBezTo>
                    <a:pt x="54" y="88"/>
                    <a:pt x="84" y="58"/>
                    <a:pt x="122" y="58"/>
                  </a:cubicBezTo>
                  <a:cubicBezTo>
                    <a:pt x="159" y="58"/>
                    <a:pt x="189" y="88"/>
                    <a:pt x="189" y="125"/>
                  </a:cubicBezTo>
                  <a:cubicBezTo>
                    <a:pt x="189" y="167"/>
                    <a:pt x="152" y="175"/>
                    <a:pt x="148" y="211"/>
                  </a:cubicBezTo>
                  <a:cubicBezTo>
                    <a:pt x="151" y="211"/>
                    <a:pt x="154" y="214"/>
                    <a:pt x="154" y="218"/>
                  </a:cubicBezTo>
                  <a:close/>
                  <a:moveTo>
                    <a:pt x="107" y="76"/>
                  </a:moveTo>
                  <a:cubicBezTo>
                    <a:pt x="106" y="73"/>
                    <a:pt x="103" y="72"/>
                    <a:pt x="101" y="73"/>
                  </a:cubicBezTo>
                  <a:cubicBezTo>
                    <a:pt x="84" y="80"/>
                    <a:pt x="72" y="94"/>
                    <a:pt x="67" y="111"/>
                  </a:cubicBezTo>
                  <a:cubicBezTo>
                    <a:pt x="67" y="113"/>
                    <a:pt x="68" y="116"/>
                    <a:pt x="71" y="117"/>
                  </a:cubicBezTo>
                  <a:cubicBezTo>
                    <a:pt x="71" y="117"/>
                    <a:pt x="72" y="117"/>
                    <a:pt x="72" y="117"/>
                  </a:cubicBezTo>
                  <a:cubicBezTo>
                    <a:pt x="74" y="117"/>
                    <a:pt x="76" y="115"/>
                    <a:pt x="77" y="113"/>
                  </a:cubicBezTo>
                  <a:cubicBezTo>
                    <a:pt x="80" y="99"/>
                    <a:pt x="91" y="87"/>
                    <a:pt x="104" y="82"/>
                  </a:cubicBezTo>
                  <a:cubicBezTo>
                    <a:pt x="107" y="81"/>
                    <a:pt x="108" y="78"/>
                    <a:pt x="107" y="76"/>
                  </a:cubicBezTo>
                  <a:close/>
                </a:path>
              </a:pathLst>
            </a:custGeom>
            <a:solidFill>
              <a:srgbClr val="FFD52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Rectangle 67"/>
          <p:cNvSpPr/>
          <p:nvPr>
            <p:custDataLst>
              <p:tags r:id="rId10"/>
            </p:custDataLst>
          </p:nvPr>
        </p:nvSpPr>
        <p:spPr>
          <a:xfrm>
            <a:off x="1935331" y="2844739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>
            <p:custDataLst>
              <p:tags r:id="rId11"/>
            </p:custDataLst>
          </p:nvPr>
        </p:nvSpPr>
        <p:spPr>
          <a:xfrm>
            <a:off x="1892754" y="2382498"/>
            <a:ext cx="4810125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数据来源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附件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1,2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给出的典型日负荷数据和风光发电数据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</p:txBody>
      </p:sp>
      <p:sp>
        <p:nvSpPr>
          <p:cNvPr id="25" name="Rectangle 67"/>
          <p:cNvSpPr/>
          <p:nvPr>
            <p:custDataLst>
              <p:tags r:id="rId12"/>
            </p:custDataLst>
          </p:nvPr>
        </p:nvSpPr>
        <p:spPr>
          <a:xfrm>
            <a:off x="1859864" y="4812687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>
            <p:custDataLst>
              <p:tags r:id="rId13"/>
            </p:custDataLst>
          </p:nvPr>
        </p:nvSpPr>
        <p:spPr>
          <a:xfrm>
            <a:off x="1817287" y="4350446"/>
            <a:ext cx="5932805" cy="1753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采取方法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系统采用线性规划（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LP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）算法。模型在保证电池不超载，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电量不低于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10%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的前提下，自动寻找一个让全天购电成本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最低的方案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afterEffect" p14:presetBounceEnd="5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1" fill="hold" nodeType="afterEffect" p14:presetBounceEnd="5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12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1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6" y="0"/>
            <a:ext cx="1126988" cy="112698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273010" y="157091"/>
            <a:ext cx="4115126" cy="861763"/>
            <a:chOff x="-164060" y="136642"/>
            <a:chExt cx="5486834" cy="1149015"/>
          </a:xfrm>
        </p:grpSpPr>
        <p:sp>
          <p:nvSpPr>
            <p:cNvPr id="10" name="文本框 9"/>
            <p:cNvSpPr txBox="1"/>
            <p:nvPr/>
          </p:nvSpPr>
          <p:spPr>
            <a:xfrm>
              <a:off x="-164060" y="136642"/>
              <a:ext cx="3088640" cy="86021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实验数据和方法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36412" y="712465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3" name="Rectangle 67"/>
          <p:cNvSpPr/>
          <p:nvPr>
            <p:custDataLst>
              <p:tags r:id="rId2"/>
            </p:custDataLst>
          </p:nvPr>
        </p:nvSpPr>
        <p:spPr>
          <a:xfrm>
            <a:off x="1859766" y="2844739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67"/>
          <p:cNvSpPr/>
          <p:nvPr>
            <p:custDataLst>
              <p:tags r:id="rId3"/>
            </p:custDataLst>
          </p:nvPr>
        </p:nvSpPr>
        <p:spPr>
          <a:xfrm>
            <a:off x="1859864" y="4812687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figure_20261004_2145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2295" y="2194560"/>
            <a:ext cx="8486775" cy="246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6" y="0"/>
            <a:ext cx="1126988" cy="112698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273010" y="157091"/>
            <a:ext cx="4115126" cy="861763"/>
            <a:chOff x="-164060" y="136642"/>
            <a:chExt cx="5486834" cy="1149015"/>
          </a:xfrm>
        </p:grpSpPr>
        <p:sp>
          <p:nvSpPr>
            <p:cNvPr id="10" name="文本框 9"/>
            <p:cNvSpPr txBox="1"/>
            <p:nvPr/>
          </p:nvSpPr>
          <p:spPr>
            <a:xfrm>
              <a:off x="-164060" y="136642"/>
              <a:ext cx="3088640" cy="86021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实验数据和方法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36412" y="712465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3" name="Rectangle 67"/>
          <p:cNvSpPr/>
          <p:nvPr>
            <p:custDataLst>
              <p:tags r:id="rId4"/>
            </p:custDataLst>
          </p:nvPr>
        </p:nvSpPr>
        <p:spPr>
          <a:xfrm>
            <a:off x="1859766" y="2844739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67"/>
          <p:cNvSpPr/>
          <p:nvPr>
            <p:custDataLst>
              <p:tags r:id="rId5"/>
            </p:custDataLst>
          </p:nvPr>
        </p:nvSpPr>
        <p:spPr>
          <a:xfrm>
            <a:off x="1859864" y="4812687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图表 6"/>
          <p:cNvGraphicFramePr/>
          <p:nvPr/>
        </p:nvGraphicFramePr>
        <p:xfrm>
          <a:off x="700405" y="2145665"/>
          <a:ext cx="44704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" name="图表 7" descr="7b0a202020202263686172745265734964223a20223230343736313638220a7d0a"/>
          <p:cNvGraphicFramePr/>
          <p:nvPr/>
        </p:nvGraphicFramePr>
        <p:xfrm>
          <a:off x="6456680" y="2145030"/>
          <a:ext cx="5085715" cy="260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6" y="0"/>
            <a:ext cx="1126988" cy="112698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273010" y="157091"/>
            <a:ext cx="4115126" cy="861763"/>
            <a:chOff x="-164060" y="136642"/>
            <a:chExt cx="5486834" cy="1149015"/>
          </a:xfrm>
        </p:grpSpPr>
        <p:sp>
          <p:nvSpPr>
            <p:cNvPr id="10" name="文本框 9"/>
            <p:cNvSpPr txBox="1"/>
            <p:nvPr/>
          </p:nvSpPr>
          <p:spPr>
            <a:xfrm>
              <a:off x="-164060" y="136642"/>
              <a:ext cx="3088640" cy="86021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实验数据和方法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36412" y="712465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3" name="Rectangle 67"/>
          <p:cNvSpPr/>
          <p:nvPr>
            <p:custDataLst>
              <p:tags r:id="rId2"/>
            </p:custDataLst>
          </p:nvPr>
        </p:nvSpPr>
        <p:spPr>
          <a:xfrm>
            <a:off x="1859766" y="2844739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67"/>
          <p:cNvSpPr/>
          <p:nvPr>
            <p:custDataLst>
              <p:tags r:id="rId3"/>
            </p:custDataLst>
          </p:nvPr>
        </p:nvSpPr>
        <p:spPr>
          <a:xfrm>
            <a:off x="1859864" y="4812687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4" descr="figure_20261002_231146"/>
          <p:cNvPicPr>
            <a:picLocks noChangeAspect="1"/>
          </p:cNvPicPr>
          <p:nvPr/>
        </p:nvPicPr>
        <p:blipFill>
          <a:blip r:embed="rId4"/>
          <a:srcRect l="-777" t="51749"/>
          <a:stretch>
            <a:fillRect/>
          </a:stretch>
        </p:blipFill>
        <p:spPr>
          <a:xfrm>
            <a:off x="1913255" y="2212340"/>
            <a:ext cx="8914765" cy="2592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98065" y="5788660"/>
            <a:ext cx="845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</a:t>
            </a:r>
            <a:r>
              <a:rPr lang="zh-CN" altLang="en-US"/>
              <a:t>园区：仅中午一次循环，日循环一次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6" y="0"/>
            <a:ext cx="1126988" cy="112698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273010" y="157091"/>
            <a:ext cx="4115126" cy="861763"/>
            <a:chOff x="-164060" y="136642"/>
            <a:chExt cx="5486834" cy="1149015"/>
          </a:xfrm>
        </p:grpSpPr>
        <p:sp>
          <p:nvSpPr>
            <p:cNvPr id="10" name="文本框 9"/>
            <p:cNvSpPr txBox="1"/>
            <p:nvPr/>
          </p:nvSpPr>
          <p:spPr>
            <a:xfrm>
              <a:off x="-164060" y="136642"/>
              <a:ext cx="3088640" cy="86021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实验数据和方法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36412" y="712465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3" name="Rectangle 67"/>
          <p:cNvSpPr/>
          <p:nvPr>
            <p:custDataLst>
              <p:tags r:id="rId4"/>
            </p:custDataLst>
          </p:nvPr>
        </p:nvSpPr>
        <p:spPr>
          <a:xfrm>
            <a:off x="1859766" y="2844739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67"/>
          <p:cNvSpPr/>
          <p:nvPr>
            <p:custDataLst>
              <p:tags r:id="rId5"/>
            </p:custDataLst>
          </p:nvPr>
        </p:nvSpPr>
        <p:spPr>
          <a:xfrm>
            <a:off x="1859864" y="4812687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图表 8" descr="7b0a202020202263686172745265734964223a20223230343736313638220a7d0a"/>
          <p:cNvGraphicFramePr/>
          <p:nvPr/>
        </p:nvGraphicFramePr>
        <p:xfrm>
          <a:off x="299720" y="1934845"/>
          <a:ext cx="4983480" cy="3016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图表 9" descr="7b0a202020202263686172745265734964223a20223230343736313638220a7d0a"/>
          <p:cNvGraphicFramePr/>
          <p:nvPr/>
        </p:nvGraphicFramePr>
        <p:xfrm>
          <a:off x="6588125" y="1934845"/>
          <a:ext cx="5350510" cy="3016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6" y="0"/>
            <a:ext cx="1126988" cy="112698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273010" y="157091"/>
            <a:ext cx="4115126" cy="861763"/>
            <a:chOff x="-164060" y="136642"/>
            <a:chExt cx="5486834" cy="1149015"/>
          </a:xfrm>
        </p:grpSpPr>
        <p:sp>
          <p:nvSpPr>
            <p:cNvPr id="10" name="文本框 9"/>
            <p:cNvSpPr txBox="1"/>
            <p:nvPr/>
          </p:nvSpPr>
          <p:spPr>
            <a:xfrm>
              <a:off x="-164060" y="136642"/>
              <a:ext cx="3088640" cy="86021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实验数据和方法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36412" y="712465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3" name="Rectangle 67"/>
          <p:cNvSpPr/>
          <p:nvPr>
            <p:custDataLst>
              <p:tags r:id="rId2"/>
            </p:custDataLst>
          </p:nvPr>
        </p:nvSpPr>
        <p:spPr>
          <a:xfrm>
            <a:off x="1859766" y="2844739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67"/>
          <p:cNvSpPr/>
          <p:nvPr>
            <p:custDataLst>
              <p:tags r:id="rId3"/>
            </p:custDataLst>
          </p:nvPr>
        </p:nvSpPr>
        <p:spPr>
          <a:xfrm>
            <a:off x="1859864" y="4812687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5" descr="figure_20261002_231521"/>
          <p:cNvPicPr>
            <a:picLocks noChangeAspect="1"/>
          </p:cNvPicPr>
          <p:nvPr/>
        </p:nvPicPr>
        <p:blipFill>
          <a:blip r:embed="rId4"/>
          <a:srcRect l="-193" t="53966"/>
          <a:stretch>
            <a:fillRect/>
          </a:stretch>
        </p:blipFill>
        <p:spPr>
          <a:xfrm>
            <a:off x="1192530" y="2002790"/>
            <a:ext cx="9662795" cy="28105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81760" y="5494020"/>
            <a:ext cx="9396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</a:t>
            </a:r>
            <a:r>
              <a:rPr lang="zh-CN" altLang="en-US"/>
              <a:t>园区：清晨＋傍晚两次循环，日循环</a:t>
            </a:r>
            <a:r>
              <a:rPr lang="en-US" altLang="zh-CN"/>
              <a:t>2.2</a:t>
            </a:r>
            <a:r>
              <a:rPr lang="zh-CN" altLang="en-US"/>
              <a:t>次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6" y="0"/>
            <a:ext cx="1126988" cy="112698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273010" y="157091"/>
            <a:ext cx="4115126" cy="861763"/>
            <a:chOff x="-164060" y="136642"/>
            <a:chExt cx="5486834" cy="1149015"/>
          </a:xfrm>
        </p:grpSpPr>
        <p:sp>
          <p:nvSpPr>
            <p:cNvPr id="10" name="文本框 9"/>
            <p:cNvSpPr txBox="1"/>
            <p:nvPr/>
          </p:nvSpPr>
          <p:spPr>
            <a:xfrm>
              <a:off x="-164060" y="136642"/>
              <a:ext cx="3088640" cy="86021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实验数据和方法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36412" y="712465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3" name="Rectangle 67"/>
          <p:cNvSpPr/>
          <p:nvPr>
            <p:custDataLst>
              <p:tags r:id="rId4"/>
            </p:custDataLst>
          </p:nvPr>
        </p:nvSpPr>
        <p:spPr>
          <a:xfrm>
            <a:off x="1859766" y="2844739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67"/>
          <p:cNvSpPr/>
          <p:nvPr>
            <p:custDataLst>
              <p:tags r:id="rId5"/>
            </p:custDataLst>
          </p:nvPr>
        </p:nvSpPr>
        <p:spPr>
          <a:xfrm>
            <a:off x="1859864" y="4812687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图表 10" descr="7b0a202020202263686172745265734964223a20223230343736313638220a7d0a"/>
          <p:cNvGraphicFramePr/>
          <p:nvPr/>
        </p:nvGraphicFramePr>
        <p:xfrm>
          <a:off x="556895" y="2018030"/>
          <a:ext cx="5029200" cy="2911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11"/>
          <p:cNvGraphicFramePr/>
          <p:nvPr/>
        </p:nvGraphicFramePr>
        <p:xfrm>
          <a:off x="6617970" y="2018030"/>
          <a:ext cx="4932680" cy="2911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6" y="0"/>
            <a:ext cx="1126988" cy="112698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273010" y="157091"/>
            <a:ext cx="4115126" cy="861763"/>
            <a:chOff x="-164060" y="136642"/>
            <a:chExt cx="5486834" cy="1149015"/>
          </a:xfrm>
        </p:grpSpPr>
        <p:sp>
          <p:nvSpPr>
            <p:cNvPr id="10" name="文本框 9"/>
            <p:cNvSpPr txBox="1"/>
            <p:nvPr/>
          </p:nvSpPr>
          <p:spPr>
            <a:xfrm>
              <a:off x="-164060" y="136642"/>
              <a:ext cx="3088640" cy="86021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实验数据和方法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36412" y="712465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3" name="Rectangle 67"/>
          <p:cNvSpPr/>
          <p:nvPr>
            <p:custDataLst>
              <p:tags r:id="rId2"/>
            </p:custDataLst>
          </p:nvPr>
        </p:nvSpPr>
        <p:spPr>
          <a:xfrm>
            <a:off x="1859766" y="2844739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67"/>
          <p:cNvSpPr/>
          <p:nvPr>
            <p:custDataLst>
              <p:tags r:id="rId3"/>
            </p:custDataLst>
          </p:nvPr>
        </p:nvSpPr>
        <p:spPr>
          <a:xfrm>
            <a:off x="1859864" y="4812687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6" descr="figure_20261002_231636"/>
          <p:cNvPicPr>
            <a:picLocks noChangeAspect="1"/>
          </p:cNvPicPr>
          <p:nvPr/>
        </p:nvPicPr>
        <p:blipFill>
          <a:blip r:embed="rId4"/>
          <a:srcRect l="-484" t="51749"/>
          <a:stretch>
            <a:fillRect/>
          </a:stretch>
        </p:blipFill>
        <p:spPr>
          <a:xfrm>
            <a:off x="1432560" y="2072640"/>
            <a:ext cx="9511665" cy="27666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05255" y="5338445"/>
            <a:ext cx="9403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</a:t>
            </a:r>
            <a:r>
              <a:rPr lang="zh-CN" altLang="en-US"/>
              <a:t>园区：风光互补，日循环</a:t>
            </a:r>
            <a:r>
              <a:rPr lang="en-US" altLang="zh-CN"/>
              <a:t>2.1</a:t>
            </a:r>
            <a:r>
              <a:rPr lang="zh-CN" altLang="en-US"/>
              <a:t>次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333461" y="0"/>
            <a:ext cx="7858539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zh-CN" altLang="en-US" sz="4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285" b="50000"/>
          <a:stretch>
            <a:fillRect/>
          </a:stretch>
        </p:blipFill>
        <p:spPr>
          <a:xfrm>
            <a:off x="0" y="0"/>
            <a:ext cx="4731026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75" y="2281410"/>
            <a:ext cx="2673286" cy="2673286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4597958" y="3066171"/>
            <a:ext cx="3664772" cy="1147544"/>
            <a:chOff x="417727" y="-105035"/>
            <a:chExt cx="4886362" cy="1530056"/>
          </a:xfrm>
        </p:grpSpPr>
        <p:sp>
          <p:nvSpPr>
            <p:cNvPr id="25" name="文本框 24"/>
            <p:cNvSpPr txBox="1"/>
            <p:nvPr/>
          </p:nvSpPr>
          <p:spPr>
            <a:xfrm>
              <a:off x="3606496" y="-105035"/>
              <a:ext cx="413173" cy="135297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417727" y="851829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6" y="0"/>
            <a:ext cx="1126988" cy="112698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337919" y="157091"/>
            <a:ext cx="3664772" cy="861763"/>
            <a:chOff x="436412" y="136642"/>
            <a:chExt cx="4886362" cy="1149015"/>
          </a:xfrm>
        </p:grpSpPr>
        <p:sp>
          <p:nvSpPr>
            <p:cNvPr id="10" name="文本框 9"/>
            <p:cNvSpPr txBox="1"/>
            <p:nvPr/>
          </p:nvSpPr>
          <p:spPr>
            <a:xfrm>
              <a:off x="445540" y="136642"/>
              <a:ext cx="1869440" cy="86021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实验结果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36412" y="712465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r>
                <a:rPr lang="en-US" altLang="zh-CN" sz="1100" kern="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2" name="Group 65"/>
          <p:cNvGrpSpPr/>
          <p:nvPr>
            <p:custDataLst>
              <p:tags r:id="rId2"/>
            </p:custDataLst>
          </p:nvPr>
        </p:nvGrpSpPr>
        <p:grpSpPr>
          <a:xfrm>
            <a:off x="4506745" y="2138204"/>
            <a:ext cx="4669981" cy="1101543"/>
            <a:chOff x="9263124" y="2461072"/>
            <a:chExt cx="4965779" cy="1044556"/>
          </a:xfrm>
        </p:grpSpPr>
        <p:sp>
          <p:nvSpPr>
            <p:cNvPr id="13" name="TextBox 66"/>
            <p:cNvSpPr txBox="1"/>
            <p:nvPr>
              <p:custDataLst>
                <p:tags r:id="rId3"/>
              </p:custDataLst>
            </p:nvPr>
          </p:nvSpPr>
          <p:spPr>
            <a:xfrm>
              <a:off x="9274135" y="2461072"/>
              <a:ext cx="2785287" cy="4805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Arial" panose="020B0604020202020204"/>
                </a:rPr>
                <a:t>1.</a:t>
              </a:r>
              <a:r>
                <a:rPr lang="zh-CN" altLang="en-US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Arial" panose="020B0604020202020204"/>
                </a:rPr>
                <a:t>明确回答三个研究问题</a:t>
              </a:r>
              <a:endPara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endParaRPr>
            </a:p>
          </p:txBody>
        </p:sp>
        <p:sp>
          <p:nvSpPr>
            <p:cNvPr id="14" name="Rectangle 67"/>
            <p:cNvSpPr/>
            <p:nvPr>
              <p:custDataLst>
                <p:tags r:id="rId4"/>
              </p:custDataLst>
            </p:nvPr>
          </p:nvSpPr>
          <p:spPr>
            <a:xfrm>
              <a:off x="9263124" y="2893845"/>
              <a:ext cx="4965779" cy="6117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GB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得到了不同园区在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50kW/100kWh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储能下的运行结果，发现三园区间改善程度的差异，得到最优运行策略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Group 65"/>
          <p:cNvGrpSpPr/>
          <p:nvPr>
            <p:custDataLst>
              <p:tags r:id="rId5"/>
            </p:custDataLst>
          </p:nvPr>
        </p:nvGrpSpPr>
        <p:grpSpPr>
          <a:xfrm>
            <a:off x="3511879" y="4154611"/>
            <a:ext cx="4209609" cy="765203"/>
            <a:chOff x="7236902" y="2517475"/>
            <a:chExt cx="4476246" cy="725616"/>
          </a:xfrm>
        </p:grpSpPr>
        <p:sp>
          <p:nvSpPr>
            <p:cNvPr id="16" name="TextBox 66"/>
            <p:cNvSpPr txBox="1"/>
            <p:nvPr/>
          </p:nvSpPr>
          <p:spPr>
            <a:xfrm>
              <a:off x="10389919" y="2517475"/>
              <a:ext cx="196432" cy="39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endParaRPr lang="en-GB" dirty="0">
                <a:latin typeface="迷你简菱心" panose="02010609000101010101" pitchFamily="49" charset="-122"/>
                <a:ea typeface="迷你简菱心" panose="0201060900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17" name="Rectangle 67"/>
            <p:cNvSpPr/>
            <p:nvPr>
              <p:custDataLst>
                <p:tags r:id="rId6"/>
              </p:custDataLst>
            </p:nvPr>
          </p:nvSpPr>
          <p:spPr>
            <a:xfrm>
              <a:off x="7236902" y="2893845"/>
              <a:ext cx="4476246" cy="3492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endParaRPr lang="en-GB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4372610" y="4097655"/>
            <a:ext cx="4628515" cy="189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2.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探究问题外的发现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配备储能是否亏损与风光出力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时序分布不同有关，也与日循环次数有关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444240" y="0"/>
            <a:ext cx="8747760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个人收获与实验不足</a:t>
            </a:r>
            <a:endParaRPr lang="zh-CN" altLang="en-US" sz="4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285" b="50000"/>
          <a:stretch>
            <a:fillRect/>
          </a:stretch>
        </p:blipFill>
        <p:spPr>
          <a:xfrm>
            <a:off x="0" y="0"/>
            <a:ext cx="4731026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75" y="2281410"/>
            <a:ext cx="2673286" cy="2673286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4597958" y="3066171"/>
            <a:ext cx="3664772" cy="1147544"/>
            <a:chOff x="417727" y="-105035"/>
            <a:chExt cx="4886362" cy="1530056"/>
          </a:xfrm>
        </p:grpSpPr>
        <p:sp>
          <p:nvSpPr>
            <p:cNvPr id="25" name="文本框 24"/>
            <p:cNvSpPr txBox="1"/>
            <p:nvPr/>
          </p:nvSpPr>
          <p:spPr>
            <a:xfrm>
              <a:off x="3606496" y="-105035"/>
              <a:ext cx="413173" cy="135297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417727" y="851829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6" y="0"/>
            <a:ext cx="1126988" cy="112698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337919" y="157091"/>
            <a:ext cx="3664772" cy="861763"/>
            <a:chOff x="436412" y="136642"/>
            <a:chExt cx="4886362" cy="1149015"/>
          </a:xfrm>
        </p:grpSpPr>
        <p:sp>
          <p:nvSpPr>
            <p:cNvPr id="10" name="文本框 9"/>
            <p:cNvSpPr txBox="1"/>
            <p:nvPr/>
          </p:nvSpPr>
          <p:spPr>
            <a:xfrm>
              <a:off x="615720" y="136642"/>
              <a:ext cx="3088640" cy="86021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个人收获与不足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36412" y="712465"/>
              <a:ext cx="4886362" cy="573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000"/>
                </a:spcAft>
              </a:pPr>
              <a:endParaRPr lang="en-US" altLang="zh-CN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004323" y="2390302"/>
            <a:ext cx="662952" cy="662952"/>
            <a:chOff x="8125599" y="1434035"/>
            <a:chExt cx="2036802" cy="2036802"/>
          </a:xfrm>
          <a:solidFill>
            <a:schemeClr val="bg1"/>
          </a:solidFill>
        </p:grpSpPr>
        <p:sp>
          <p:nvSpPr>
            <p:cNvPr id="13" name="椭圆 12"/>
            <p:cNvSpPr/>
            <p:nvPr>
              <p:custDataLst>
                <p:tags r:id="rId3"/>
              </p:custDataLst>
            </p:nvPr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grpSp>
          <p:nvGrpSpPr>
            <p:cNvPr id="16" name="组合 15"/>
            <p:cNvGrpSpPr>
              <a:grpSpLocks noChangeAspect="1"/>
            </p:cNvGrpSpPr>
            <p:nvPr/>
          </p:nvGrpSpPr>
          <p:grpSpPr>
            <a:xfrm>
              <a:off x="8518659" y="1890295"/>
              <a:ext cx="1310642" cy="1124283"/>
              <a:chOff x="5084763" y="971548"/>
              <a:chExt cx="323865" cy="277813"/>
            </a:xfrm>
            <a:grpFill/>
          </p:grpSpPr>
          <p:sp>
            <p:nvSpPr>
              <p:cNvPr id="17" name="Freeform 301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5191140" y="1031873"/>
                <a:ext cx="217488" cy="217488"/>
              </a:xfrm>
              <a:custGeom>
                <a:avLst/>
                <a:gdLst>
                  <a:gd name="T0" fmla="*/ 6 w 58"/>
                  <a:gd name="T1" fmla="*/ 14 h 58"/>
                  <a:gd name="T2" fmla="*/ 7 w 58"/>
                  <a:gd name="T3" fmla="*/ 19 h 58"/>
                  <a:gd name="T4" fmla="*/ 4 w 58"/>
                  <a:gd name="T5" fmla="*/ 20 h 58"/>
                  <a:gd name="T6" fmla="*/ 0 w 58"/>
                  <a:gd name="T7" fmla="*/ 23 h 58"/>
                  <a:gd name="T8" fmla="*/ 2 w 58"/>
                  <a:gd name="T9" fmla="*/ 27 h 58"/>
                  <a:gd name="T10" fmla="*/ 5 w 58"/>
                  <a:gd name="T11" fmla="*/ 31 h 58"/>
                  <a:gd name="T12" fmla="*/ 2 w 58"/>
                  <a:gd name="T13" fmla="*/ 34 h 58"/>
                  <a:gd name="T14" fmla="*/ 1 w 58"/>
                  <a:gd name="T15" fmla="*/ 38 h 58"/>
                  <a:gd name="T16" fmla="*/ 5 w 58"/>
                  <a:gd name="T17" fmla="*/ 41 h 58"/>
                  <a:gd name="T18" fmla="*/ 8 w 58"/>
                  <a:gd name="T19" fmla="*/ 42 h 58"/>
                  <a:gd name="T20" fmla="*/ 8 w 58"/>
                  <a:gd name="T21" fmla="*/ 46 h 58"/>
                  <a:gd name="T22" fmla="*/ 9 w 58"/>
                  <a:gd name="T23" fmla="*/ 51 h 58"/>
                  <a:gd name="T24" fmla="*/ 14 w 58"/>
                  <a:gd name="T25" fmla="*/ 51 h 58"/>
                  <a:gd name="T26" fmla="*/ 18 w 58"/>
                  <a:gd name="T27" fmla="*/ 51 h 58"/>
                  <a:gd name="T28" fmla="*/ 19 w 58"/>
                  <a:gd name="T29" fmla="*/ 54 h 58"/>
                  <a:gd name="T30" fmla="*/ 22 w 58"/>
                  <a:gd name="T31" fmla="*/ 58 h 58"/>
                  <a:gd name="T32" fmla="*/ 27 w 58"/>
                  <a:gd name="T33" fmla="*/ 56 h 58"/>
                  <a:gd name="T34" fmla="*/ 31 w 58"/>
                  <a:gd name="T35" fmla="*/ 53 h 58"/>
                  <a:gd name="T36" fmla="*/ 33 w 58"/>
                  <a:gd name="T37" fmla="*/ 56 h 58"/>
                  <a:gd name="T38" fmla="*/ 38 w 58"/>
                  <a:gd name="T39" fmla="*/ 57 h 58"/>
                  <a:gd name="T40" fmla="*/ 40 w 58"/>
                  <a:gd name="T41" fmla="*/ 53 h 58"/>
                  <a:gd name="T42" fmla="*/ 42 w 58"/>
                  <a:gd name="T43" fmla="*/ 49 h 58"/>
                  <a:gd name="T44" fmla="*/ 46 w 58"/>
                  <a:gd name="T45" fmla="*/ 50 h 58"/>
                  <a:gd name="T46" fmla="*/ 50 w 58"/>
                  <a:gd name="T47" fmla="*/ 49 h 58"/>
                  <a:gd name="T48" fmla="*/ 51 w 58"/>
                  <a:gd name="T49" fmla="*/ 44 h 58"/>
                  <a:gd name="T50" fmla="*/ 50 w 58"/>
                  <a:gd name="T51" fmla="*/ 40 h 58"/>
                  <a:gd name="T52" fmla="*/ 54 w 58"/>
                  <a:gd name="T53" fmla="*/ 39 h 58"/>
                  <a:gd name="T54" fmla="*/ 57 w 58"/>
                  <a:gd name="T55" fmla="*/ 35 h 58"/>
                  <a:gd name="T56" fmla="*/ 55 w 58"/>
                  <a:gd name="T57" fmla="*/ 31 h 58"/>
                  <a:gd name="T58" fmla="*/ 52 w 58"/>
                  <a:gd name="T59" fmla="*/ 27 h 58"/>
                  <a:gd name="T60" fmla="*/ 55 w 58"/>
                  <a:gd name="T61" fmla="*/ 25 h 58"/>
                  <a:gd name="T62" fmla="*/ 56 w 58"/>
                  <a:gd name="T63" fmla="*/ 20 h 58"/>
                  <a:gd name="T64" fmla="*/ 53 w 58"/>
                  <a:gd name="T65" fmla="*/ 18 h 58"/>
                  <a:gd name="T66" fmla="*/ 48 w 58"/>
                  <a:gd name="T67" fmla="*/ 16 h 58"/>
                  <a:gd name="T68" fmla="*/ 49 w 58"/>
                  <a:gd name="T69" fmla="*/ 12 h 58"/>
                  <a:gd name="T70" fmla="*/ 48 w 58"/>
                  <a:gd name="T71" fmla="*/ 8 h 58"/>
                  <a:gd name="T72" fmla="*/ 44 w 58"/>
                  <a:gd name="T73" fmla="*/ 7 h 58"/>
                  <a:gd name="T74" fmla="*/ 39 w 58"/>
                  <a:gd name="T75" fmla="*/ 8 h 58"/>
                  <a:gd name="T76" fmla="*/ 38 w 58"/>
                  <a:gd name="T77" fmla="*/ 4 h 58"/>
                  <a:gd name="T78" fmla="*/ 35 w 58"/>
                  <a:gd name="T79" fmla="*/ 1 h 58"/>
                  <a:gd name="T80" fmla="*/ 30 w 58"/>
                  <a:gd name="T81" fmla="*/ 3 h 58"/>
                  <a:gd name="T82" fmla="*/ 27 w 58"/>
                  <a:gd name="T83" fmla="*/ 5 h 58"/>
                  <a:gd name="T84" fmla="*/ 24 w 58"/>
                  <a:gd name="T85" fmla="*/ 3 h 58"/>
                  <a:gd name="T86" fmla="*/ 20 w 58"/>
                  <a:gd name="T87" fmla="*/ 1 h 58"/>
                  <a:gd name="T88" fmla="*/ 17 w 58"/>
                  <a:gd name="T89" fmla="*/ 5 h 58"/>
                  <a:gd name="T90" fmla="*/ 15 w 58"/>
                  <a:gd name="T91" fmla="*/ 10 h 58"/>
                  <a:gd name="T92" fmla="*/ 12 w 58"/>
                  <a:gd name="T93" fmla="*/ 9 h 58"/>
                  <a:gd name="T94" fmla="*/ 7 w 58"/>
                  <a:gd name="T95" fmla="*/ 10 h 58"/>
                  <a:gd name="T96" fmla="*/ 6 w 58"/>
                  <a:gd name="T97" fmla="*/ 14 h 58"/>
                  <a:gd name="T98" fmla="*/ 23 w 58"/>
                  <a:gd name="T99" fmla="*/ 13 h 58"/>
                  <a:gd name="T100" fmla="*/ 45 w 58"/>
                  <a:gd name="T101" fmla="*/ 24 h 58"/>
                  <a:gd name="T102" fmla="*/ 34 w 58"/>
                  <a:gd name="T103" fmla="*/ 45 h 58"/>
                  <a:gd name="T104" fmla="*/ 13 w 58"/>
                  <a:gd name="T105" fmla="*/ 34 h 58"/>
                  <a:gd name="T106" fmla="*/ 23 w 58"/>
                  <a:gd name="T107" fmla="*/ 1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8" h="58">
                    <a:moveTo>
                      <a:pt x="6" y="14"/>
                    </a:moveTo>
                    <a:cubicBezTo>
                      <a:pt x="8" y="15"/>
                      <a:pt x="7" y="18"/>
                      <a:pt x="7" y="19"/>
                    </a:cubicBezTo>
                    <a:cubicBezTo>
                      <a:pt x="7" y="20"/>
                      <a:pt x="5" y="20"/>
                      <a:pt x="4" y="20"/>
                    </a:cubicBezTo>
                    <a:cubicBezTo>
                      <a:pt x="2" y="20"/>
                      <a:pt x="0" y="21"/>
                      <a:pt x="0" y="23"/>
                    </a:cubicBezTo>
                    <a:cubicBezTo>
                      <a:pt x="0" y="25"/>
                      <a:pt x="0" y="27"/>
                      <a:pt x="2" y="27"/>
                    </a:cubicBezTo>
                    <a:cubicBezTo>
                      <a:pt x="3" y="28"/>
                      <a:pt x="5" y="30"/>
                      <a:pt x="5" y="31"/>
                    </a:cubicBezTo>
                    <a:cubicBezTo>
                      <a:pt x="5" y="32"/>
                      <a:pt x="4" y="33"/>
                      <a:pt x="2" y="34"/>
                    </a:cubicBezTo>
                    <a:cubicBezTo>
                      <a:pt x="1" y="34"/>
                      <a:pt x="0" y="36"/>
                      <a:pt x="1" y="38"/>
                    </a:cubicBezTo>
                    <a:cubicBezTo>
                      <a:pt x="1" y="40"/>
                      <a:pt x="3" y="42"/>
                      <a:pt x="5" y="41"/>
                    </a:cubicBezTo>
                    <a:cubicBezTo>
                      <a:pt x="6" y="41"/>
                      <a:pt x="8" y="41"/>
                      <a:pt x="8" y="42"/>
                    </a:cubicBezTo>
                    <a:cubicBezTo>
                      <a:pt x="9" y="42"/>
                      <a:pt x="9" y="45"/>
                      <a:pt x="8" y="46"/>
                    </a:cubicBezTo>
                    <a:cubicBezTo>
                      <a:pt x="7" y="47"/>
                      <a:pt x="7" y="50"/>
                      <a:pt x="9" y="51"/>
                    </a:cubicBezTo>
                    <a:cubicBezTo>
                      <a:pt x="11" y="52"/>
                      <a:pt x="13" y="53"/>
                      <a:pt x="14" y="51"/>
                    </a:cubicBezTo>
                    <a:cubicBezTo>
                      <a:pt x="15" y="50"/>
                      <a:pt x="18" y="51"/>
                      <a:pt x="18" y="51"/>
                    </a:cubicBezTo>
                    <a:cubicBezTo>
                      <a:pt x="19" y="51"/>
                      <a:pt x="20" y="53"/>
                      <a:pt x="19" y="54"/>
                    </a:cubicBezTo>
                    <a:cubicBezTo>
                      <a:pt x="19" y="56"/>
                      <a:pt x="20" y="57"/>
                      <a:pt x="22" y="58"/>
                    </a:cubicBezTo>
                    <a:cubicBezTo>
                      <a:pt x="25" y="58"/>
                      <a:pt x="26" y="57"/>
                      <a:pt x="27" y="56"/>
                    </a:cubicBezTo>
                    <a:cubicBezTo>
                      <a:pt x="27" y="54"/>
                      <a:pt x="30" y="53"/>
                      <a:pt x="31" y="53"/>
                    </a:cubicBezTo>
                    <a:cubicBezTo>
                      <a:pt x="31" y="53"/>
                      <a:pt x="33" y="54"/>
                      <a:pt x="33" y="56"/>
                    </a:cubicBezTo>
                    <a:cubicBezTo>
                      <a:pt x="34" y="57"/>
                      <a:pt x="36" y="58"/>
                      <a:pt x="38" y="57"/>
                    </a:cubicBezTo>
                    <a:cubicBezTo>
                      <a:pt x="40" y="57"/>
                      <a:pt x="41" y="55"/>
                      <a:pt x="40" y="53"/>
                    </a:cubicBezTo>
                    <a:cubicBezTo>
                      <a:pt x="40" y="52"/>
                      <a:pt x="42" y="49"/>
                      <a:pt x="42" y="49"/>
                    </a:cubicBezTo>
                    <a:cubicBezTo>
                      <a:pt x="43" y="48"/>
                      <a:pt x="44" y="49"/>
                      <a:pt x="46" y="50"/>
                    </a:cubicBezTo>
                    <a:cubicBezTo>
                      <a:pt x="47" y="51"/>
                      <a:pt x="49" y="51"/>
                      <a:pt x="50" y="49"/>
                    </a:cubicBezTo>
                    <a:cubicBezTo>
                      <a:pt x="52" y="47"/>
                      <a:pt x="52" y="45"/>
                      <a:pt x="51" y="44"/>
                    </a:cubicBezTo>
                    <a:cubicBezTo>
                      <a:pt x="50" y="43"/>
                      <a:pt x="50" y="40"/>
                      <a:pt x="50" y="40"/>
                    </a:cubicBezTo>
                    <a:cubicBezTo>
                      <a:pt x="51" y="39"/>
                      <a:pt x="52" y="38"/>
                      <a:pt x="54" y="39"/>
                    </a:cubicBezTo>
                    <a:cubicBezTo>
                      <a:pt x="55" y="39"/>
                      <a:pt x="57" y="38"/>
                      <a:pt x="57" y="35"/>
                    </a:cubicBezTo>
                    <a:cubicBezTo>
                      <a:pt x="58" y="33"/>
                      <a:pt x="57" y="31"/>
                      <a:pt x="55" y="31"/>
                    </a:cubicBezTo>
                    <a:cubicBezTo>
                      <a:pt x="54" y="31"/>
                      <a:pt x="53" y="28"/>
                      <a:pt x="52" y="27"/>
                    </a:cubicBezTo>
                    <a:cubicBezTo>
                      <a:pt x="52" y="26"/>
                      <a:pt x="54" y="25"/>
                      <a:pt x="55" y="25"/>
                    </a:cubicBezTo>
                    <a:cubicBezTo>
                      <a:pt x="56" y="24"/>
                      <a:pt x="57" y="22"/>
                      <a:pt x="56" y="20"/>
                    </a:cubicBezTo>
                    <a:cubicBezTo>
                      <a:pt x="56" y="18"/>
                      <a:pt x="54" y="17"/>
                      <a:pt x="53" y="18"/>
                    </a:cubicBezTo>
                    <a:cubicBezTo>
                      <a:pt x="51" y="18"/>
                      <a:pt x="49" y="16"/>
                      <a:pt x="48" y="16"/>
                    </a:cubicBezTo>
                    <a:cubicBezTo>
                      <a:pt x="48" y="15"/>
                      <a:pt x="48" y="13"/>
                      <a:pt x="49" y="12"/>
                    </a:cubicBezTo>
                    <a:cubicBezTo>
                      <a:pt x="50" y="11"/>
                      <a:pt x="50" y="9"/>
                      <a:pt x="48" y="8"/>
                    </a:cubicBezTo>
                    <a:cubicBezTo>
                      <a:pt x="47" y="6"/>
                      <a:pt x="45" y="6"/>
                      <a:pt x="44" y="7"/>
                    </a:cubicBezTo>
                    <a:cubicBezTo>
                      <a:pt x="42" y="8"/>
                      <a:pt x="40" y="8"/>
                      <a:pt x="39" y="8"/>
                    </a:cubicBezTo>
                    <a:cubicBezTo>
                      <a:pt x="38" y="7"/>
                      <a:pt x="38" y="6"/>
                      <a:pt x="38" y="4"/>
                    </a:cubicBezTo>
                    <a:cubicBezTo>
                      <a:pt x="38" y="3"/>
                      <a:pt x="37" y="1"/>
                      <a:pt x="35" y="1"/>
                    </a:cubicBezTo>
                    <a:cubicBezTo>
                      <a:pt x="33" y="0"/>
                      <a:pt x="31" y="1"/>
                      <a:pt x="30" y="3"/>
                    </a:cubicBezTo>
                    <a:cubicBezTo>
                      <a:pt x="30" y="4"/>
                      <a:pt x="28" y="5"/>
                      <a:pt x="27" y="5"/>
                    </a:cubicBezTo>
                    <a:cubicBezTo>
                      <a:pt x="26" y="6"/>
                      <a:pt x="25" y="4"/>
                      <a:pt x="24" y="3"/>
                    </a:cubicBezTo>
                    <a:cubicBezTo>
                      <a:pt x="24" y="1"/>
                      <a:pt x="22" y="1"/>
                      <a:pt x="20" y="1"/>
                    </a:cubicBezTo>
                    <a:cubicBezTo>
                      <a:pt x="18" y="2"/>
                      <a:pt x="16" y="4"/>
                      <a:pt x="17" y="5"/>
                    </a:cubicBezTo>
                    <a:cubicBezTo>
                      <a:pt x="17" y="7"/>
                      <a:pt x="16" y="9"/>
                      <a:pt x="15" y="10"/>
                    </a:cubicBezTo>
                    <a:cubicBezTo>
                      <a:pt x="14" y="10"/>
                      <a:pt x="13" y="10"/>
                      <a:pt x="12" y="9"/>
                    </a:cubicBezTo>
                    <a:cubicBezTo>
                      <a:pt x="10" y="8"/>
                      <a:pt x="8" y="8"/>
                      <a:pt x="7" y="10"/>
                    </a:cubicBezTo>
                    <a:cubicBezTo>
                      <a:pt x="6" y="11"/>
                      <a:pt x="5" y="13"/>
                      <a:pt x="6" y="14"/>
                    </a:cubicBezTo>
                    <a:close/>
                    <a:moveTo>
                      <a:pt x="23" y="13"/>
                    </a:moveTo>
                    <a:cubicBezTo>
                      <a:pt x="32" y="10"/>
                      <a:pt x="42" y="15"/>
                      <a:pt x="45" y="24"/>
                    </a:cubicBezTo>
                    <a:cubicBezTo>
                      <a:pt x="47" y="33"/>
                      <a:pt x="43" y="42"/>
                      <a:pt x="34" y="45"/>
                    </a:cubicBezTo>
                    <a:cubicBezTo>
                      <a:pt x="25" y="48"/>
                      <a:pt x="15" y="43"/>
                      <a:pt x="13" y="34"/>
                    </a:cubicBezTo>
                    <a:cubicBezTo>
                      <a:pt x="10" y="26"/>
                      <a:pt x="15" y="16"/>
                      <a:pt x="23" y="13"/>
                    </a:cubicBezTo>
                    <a:close/>
                  </a:path>
                </a:pathLst>
              </a:custGeom>
              <a:solidFill>
                <a:srgbClr val="FFD52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Freeform 302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5084781" y="971548"/>
                <a:ext cx="139701" cy="139700"/>
              </a:xfrm>
              <a:custGeom>
                <a:avLst/>
                <a:gdLst>
                  <a:gd name="T0" fmla="*/ 4 w 37"/>
                  <a:gd name="T1" fmla="*/ 9 h 37"/>
                  <a:gd name="T2" fmla="*/ 5 w 37"/>
                  <a:gd name="T3" fmla="*/ 12 h 37"/>
                  <a:gd name="T4" fmla="*/ 2 w 37"/>
                  <a:gd name="T5" fmla="*/ 12 h 37"/>
                  <a:gd name="T6" fmla="*/ 0 w 37"/>
                  <a:gd name="T7" fmla="*/ 14 h 37"/>
                  <a:gd name="T8" fmla="*/ 1 w 37"/>
                  <a:gd name="T9" fmla="*/ 17 h 37"/>
                  <a:gd name="T10" fmla="*/ 3 w 37"/>
                  <a:gd name="T11" fmla="*/ 20 h 37"/>
                  <a:gd name="T12" fmla="*/ 2 w 37"/>
                  <a:gd name="T13" fmla="*/ 21 h 37"/>
                  <a:gd name="T14" fmla="*/ 1 w 37"/>
                  <a:gd name="T15" fmla="*/ 24 h 37"/>
                  <a:gd name="T16" fmla="*/ 3 w 37"/>
                  <a:gd name="T17" fmla="*/ 26 h 37"/>
                  <a:gd name="T18" fmla="*/ 5 w 37"/>
                  <a:gd name="T19" fmla="*/ 26 h 37"/>
                  <a:gd name="T20" fmla="*/ 5 w 37"/>
                  <a:gd name="T21" fmla="*/ 29 h 37"/>
                  <a:gd name="T22" fmla="*/ 6 w 37"/>
                  <a:gd name="T23" fmla="*/ 32 h 37"/>
                  <a:gd name="T24" fmla="*/ 9 w 37"/>
                  <a:gd name="T25" fmla="*/ 33 h 37"/>
                  <a:gd name="T26" fmla="*/ 12 w 37"/>
                  <a:gd name="T27" fmla="*/ 32 h 37"/>
                  <a:gd name="T28" fmla="*/ 12 w 37"/>
                  <a:gd name="T29" fmla="*/ 34 h 37"/>
                  <a:gd name="T30" fmla="*/ 15 w 37"/>
                  <a:gd name="T31" fmla="*/ 37 h 37"/>
                  <a:gd name="T32" fmla="*/ 17 w 37"/>
                  <a:gd name="T33" fmla="*/ 35 h 37"/>
                  <a:gd name="T34" fmla="*/ 20 w 37"/>
                  <a:gd name="T35" fmla="*/ 34 h 37"/>
                  <a:gd name="T36" fmla="*/ 21 w 37"/>
                  <a:gd name="T37" fmla="*/ 35 h 37"/>
                  <a:gd name="T38" fmla="*/ 24 w 37"/>
                  <a:gd name="T39" fmla="*/ 36 h 37"/>
                  <a:gd name="T40" fmla="*/ 26 w 37"/>
                  <a:gd name="T41" fmla="*/ 34 h 37"/>
                  <a:gd name="T42" fmla="*/ 27 w 37"/>
                  <a:gd name="T43" fmla="*/ 31 h 37"/>
                  <a:gd name="T44" fmla="*/ 29 w 37"/>
                  <a:gd name="T45" fmla="*/ 32 h 37"/>
                  <a:gd name="T46" fmla="*/ 32 w 37"/>
                  <a:gd name="T47" fmla="*/ 31 h 37"/>
                  <a:gd name="T48" fmla="*/ 33 w 37"/>
                  <a:gd name="T49" fmla="*/ 28 h 37"/>
                  <a:gd name="T50" fmla="*/ 32 w 37"/>
                  <a:gd name="T51" fmla="*/ 25 h 37"/>
                  <a:gd name="T52" fmla="*/ 35 w 37"/>
                  <a:gd name="T53" fmla="*/ 24 h 37"/>
                  <a:gd name="T54" fmla="*/ 37 w 37"/>
                  <a:gd name="T55" fmla="*/ 22 h 37"/>
                  <a:gd name="T56" fmla="*/ 36 w 37"/>
                  <a:gd name="T57" fmla="*/ 19 h 37"/>
                  <a:gd name="T58" fmla="*/ 34 w 37"/>
                  <a:gd name="T59" fmla="*/ 17 h 37"/>
                  <a:gd name="T60" fmla="*/ 35 w 37"/>
                  <a:gd name="T61" fmla="*/ 15 h 37"/>
                  <a:gd name="T62" fmla="*/ 36 w 37"/>
                  <a:gd name="T63" fmla="*/ 12 h 37"/>
                  <a:gd name="T64" fmla="*/ 34 w 37"/>
                  <a:gd name="T65" fmla="*/ 11 h 37"/>
                  <a:gd name="T66" fmla="*/ 31 w 37"/>
                  <a:gd name="T67" fmla="*/ 9 h 37"/>
                  <a:gd name="T68" fmla="*/ 32 w 37"/>
                  <a:gd name="T69" fmla="*/ 7 h 37"/>
                  <a:gd name="T70" fmla="*/ 31 w 37"/>
                  <a:gd name="T71" fmla="*/ 4 h 37"/>
                  <a:gd name="T72" fmla="*/ 28 w 37"/>
                  <a:gd name="T73" fmla="*/ 4 h 37"/>
                  <a:gd name="T74" fmla="*/ 25 w 37"/>
                  <a:gd name="T75" fmla="*/ 4 h 37"/>
                  <a:gd name="T76" fmla="*/ 25 w 37"/>
                  <a:gd name="T77" fmla="*/ 2 h 37"/>
                  <a:gd name="T78" fmla="*/ 22 w 37"/>
                  <a:gd name="T79" fmla="*/ 0 h 37"/>
                  <a:gd name="T80" fmla="*/ 20 w 37"/>
                  <a:gd name="T81" fmla="*/ 1 h 37"/>
                  <a:gd name="T82" fmla="*/ 17 w 37"/>
                  <a:gd name="T83" fmla="*/ 3 h 37"/>
                  <a:gd name="T84" fmla="*/ 16 w 37"/>
                  <a:gd name="T85" fmla="*/ 1 h 37"/>
                  <a:gd name="T86" fmla="*/ 13 w 37"/>
                  <a:gd name="T87" fmla="*/ 0 h 37"/>
                  <a:gd name="T88" fmla="*/ 11 w 37"/>
                  <a:gd name="T89" fmla="*/ 3 h 37"/>
                  <a:gd name="T90" fmla="*/ 10 w 37"/>
                  <a:gd name="T91" fmla="*/ 6 h 37"/>
                  <a:gd name="T92" fmla="*/ 8 w 37"/>
                  <a:gd name="T93" fmla="*/ 5 h 37"/>
                  <a:gd name="T94" fmla="*/ 5 w 37"/>
                  <a:gd name="T95" fmla="*/ 6 h 37"/>
                  <a:gd name="T96" fmla="*/ 4 w 37"/>
                  <a:gd name="T97" fmla="*/ 9 h 37"/>
                  <a:gd name="T98" fmla="*/ 15 w 37"/>
                  <a:gd name="T99" fmla="*/ 8 h 37"/>
                  <a:gd name="T100" fmla="*/ 29 w 37"/>
                  <a:gd name="T101" fmla="*/ 15 h 37"/>
                  <a:gd name="T102" fmla="*/ 22 w 37"/>
                  <a:gd name="T103" fmla="*/ 29 h 37"/>
                  <a:gd name="T104" fmla="*/ 8 w 37"/>
                  <a:gd name="T105" fmla="*/ 22 h 37"/>
                  <a:gd name="T106" fmla="*/ 15 w 37"/>
                  <a:gd name="T107" fmla="*/ 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37">
                    <a:moveTo>
                      <a:pt x="4" y="9"/>
                    </a:moveTo>
                    <a:cubicBezTo>
                      <a:pt x="5" y="9"/>
                      <a:pt x="5" y="11"/>
                      <a:pt x="5" y="12"/>
                    </a:cubicBezTo>
                    <a:cubicBezTo>
                      <a:pt x="4" y="12"/>
                      <a:pt x="3" y="12"/>
                      <a:pt x="2" y="12"/>
                    </a:cubicBezTo>
                    <a:cubicBezTo>
                      <a:pt x="1" y="12"/>
                      <a:pt x="0" y="13"/>
                      <a:pt x="0" y="14"/>
                    </a:cubicBezTo>
                    <a:cubicBezTo>
                      <a:pt x="0" y="16"/>
                      <a:pt x="0" y="17"/>
                      <a:pt x="1" y="17"/>
                    </a:cubicBezTo>
                    <a:cubicBezTo>
                      <a:pt x="2" y="17"/>
                      <a:pt x="3" y="19"/>
                      <a:pt x="3" y="20"/>
                    </a:cubicBezTo>
                    <a:cubicBezTo>
                      <a:pt x="3" y="20"/>
                      <a:pt x="2" y="21"/>
                      <a:pt x="2" y="21"/>
                    </a:cubicBezTo>
                    <a:cubicBezTo>
                      <a:pt x="1" y="21"/>
                      <a:pt x="0" y="23"/>
                      <a:pt x="1" y="24"/>
                    </a:cubicBezTo>
                    <a:cubicBezTo>
                      <a:pt x="1" y="25"/>
                      <a:pt x="2" y="26"/>
                      <a:pt x="3" y="26"/>
                    </a:cubicBezTo>
                    <a:cubicBezTo>
                      <a:pt x="4" y="26"/>
                      <a:pt x="5" y="26"/>
                      <a:pt x="5" y="26"/>
                    </a:cubicBezTo>
                    <a:cubicBezTo>
                      <a:pt x="6" y="27"/>
                      <a:pt x="6" y="28"/>
                      <a:pt x="5" y="29"/>
                    </a:cubicBezTo>
                    <a:cubicBezTo>
                      <a:pt x="5" y="30"/>
                      <a:pt x="5" y="31"/>
                      <a:pt x="6" y="32"/>
                    </a:cubicBezTo>
                    <a:cubicBezTo>
                      <a:pt x="7" y="33"/>
                      <a:pt x="8" y="33"/>
                      <a:pt x="9" y="33"/>
                    </a:cubicBezTo>
                    <a:cubicBezTo>
                      <a:pt x="10" y="32"/>
                      <a:pt x="11" y="32"/>
                      <a:pt x="12" y="32"/>
                    </a:cubicBezTo>
                    <a:cubicBezTo>
                      <a:pt x="12" y="32"/>
                      <a:pt x="13" y="33"/>
                      <a:pt x="12" y="34"/>
                    </a:cubicBezTo>
                    <a:cubicBezTo>
                      <a:pt x="12" y="35"/>
                      <a:pt x="13" y="36"/>
                      <a:pt x="15" y="37"/>
                    </a:cubicBezTo>
                    <a:cubicBezTo>
                      <a:pt x="16" y="37"/>
                      <a:pt x="17" y="36"/>
                      <a:pt x="17" y="35"/>
                    </a:cubicBezTo>
                    <a:cubicBezTo>
                      <a:pt x="18" y="34"/>
                      <a:pt x="19" y="34"/>
                      <a:pt x="20" y="34"/>
                    </a:cubicBezTo>
                    <a:cubicBezTo>
                      <a:pt x="20" y="34"/>
                      <a:pt x="21" y="34"/>
                      <a:pt x="21" y="35"/>
                    </a:cubicBezTo>
                    <a:cubicBezTo>
                      <a:pt x="22" y="36"/>
                      <a:pt x="23" y="37"/>
                      <a:pt x="24" y="36"/>
                    </a:cubicBezTo>
                    <a:cubicBezTo>
                      <a:pt x="26" y="36"/>
                      <a:pt x="26" y="35"/>
                      <a:pt x="26" y="34"/>
                    </a:cubicBezTo>
                    <a:cubicBezTo>
                      <a:pt x="26" y="33"/>
                      <a:pt x="27" y="31"/>
                      <a:pt x="27" y="31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0" y="32"/>
                      <a:pt x="32" y="32"/>
                      <a:pt x="32" y="31"/>
                    </a:cubicBezTo>
                    <a:cubicBezTo>
                      <a:pt x="33" y="30"/>
                      <a:pt x="34" y="28"/>
                      <a:pt x="33" y="28"/>
                    </a:cubicBezTo>
                    <a:cubicBezTo>
                      <a:pt x="32" y="27"/>
                      <a:pt x="32" y="25"/>
                      <a:pt x="32" y="25"/>
                    </a:cubicBezTo>
                    <a:cubicBezTo>
                      <a:pt x="33" y="24"/>
                      <a:pt x="34" y="24"/>
                      <a:pt x="35" y="24"/>
                    </a:cubicBezTo>
                    <a:cubicBezTo>
                      <a:pt x="36" y="24"/>
                      <a:pt x="37" y="24"/>
                      <a:pt x="37" y="22"/>
                    </a:cubicBezTo>
                    <a:cubicBezTo>
                      <a:pt x="37" y="21"/>
                      <a:pt x="37" y="20"/>
                      <a:pt x="36" y="19"/>
                    </a:cubicBezTo>
                    <a:cubicBezTo>
                      <a:pt x="35" y="19"/>
                      <a:pt x="34" y="18"/>
                      <a:pt x="34" y="17"/>
                    </a:cubicBezTo>
                    <a:cubicBezTo>
                      <a:pt x="34" y="16"/>
                      <a:pt x="35" y="16"/>
                      <a:pt x="35" y="15"/>
                    </a:cubicBezTo>
                    <a:cubicBezTo>
                      <a:pt x="36" y="15"/>
                      <a:pt x="37" y="14"/>
                      <a:pt x="36" y="12"/>
                    </a:cubicBezTo>
                    <a:cubicBezTo>
                      <a:pt x="36" y="11"/>
                      <a:pt x="35" y="10"/>
                      <a:pt x="34" y="11"/>
                    </a:cubicBezTo>
                    <a:cubicBezTo>
                      <a:pt x="33" y="11"/>
                      <a:pt x="31" y="10"/>
                      <a:pt x="31" y="9"/>
                    </a:cubicBezTo>
                    <a:cubicBezTo>
                      <a:pt x="31" y="9"/>
                      <a:pt x="31" y="8"/>
                      <a:pt x="32" y="7"/>
                    </a:cubicBezTo>
                    <a:cubicBezTo>
                      <a:pt x="32" y="7"/>
                      <a:pt x="32" y="5"/>
                      <a:pt x="31" y="4"/>
                    </a:cubicBezTo>
                    <a:cubicBezTo>
                      <a:pt x="30" y="3"/>
                      <a:pt x="29" y="3"/>
                      <a:pt x="28" y="4"/>
                    </a:cubicBezTo>
                    <a:cubicBezTo>
                      <a:pt x="27" y="5"/>
                      <a:pt x="26" y="5"/>
                      <a:pt x="25" y="4"/>
                    </a:cubicBezTo>
                    <a:cubicBezTo>
                      <a:pt x="25" y="4"/>
                      <a:pt x="24" y="3"/>
                      <a:pt x="25" y="2"/>
                    </a:cubicBezTo>
                    <a:cubicBezTo>
                      <a:pt x="25" y="1"/>
                      <a:pt x="24" y="0"/>
                      <a:pt x="22" y="0"/>
                    </a:cubicBezTo>
                    <a:cubicBezTo>
                      <a:pt x="21" y="0"/>
                      <a:pt x="20" y="0"/>
                      <a:pt x="20" y="1"/>
                    </a:cubicBezTo>
                    <a:cubicBezTo>
                      <a:pt x="19" y="2"/>
                      <a:pt x="18" y="3"/>
                      <a:pt x="17" y="3"/>
                    </a:cubicBezTo>
                    <a:cubicBezTo>
                      <a:pt x="17" y="3"/>
                      <a:pt x="16" y="2"/>
                      <a:pt x="16" y="1"/>
                    </a:cubicBezTo>
                    <a:cubicBezTo>
                      <a:pt x="15" y="0"/>
                      <a:pt x="14" y="0"/>
                      <a:pt x="13" y="0"/>
                    </a:cubicBezTo>
                    <a:cubicBezTo>
                      <a:pt x="11" y="1"/>
                      <a:pt x="11" y="2"/>
                      <a:pt x="11" y="3"/>
                    </a:cubicBezTo>
                    <a:cubicBezTo>
                      <a:pt x="11" y="4"/>
                      <a:pt x="10" y="5"/>
                      <a:pt x="10" y="6"/>
                    </a:cubicBezTo>
                    <a:cubicBezTo>
                      <a:pt x="9" y="6"/>
                      <a:pt x="8" y="6"/>
                      <a:pt x="8" y="5"/>
                    </a:cubicBezTo>
                    <a:cubicBezTo>
                      <a:pt x="7" y="4"/>
                      <a:pt x="5" y="5"/>
                      <a:pt x="5" y="6"/>
                    </a:cubicBezTo>
                    <a:cubicBezTo>
                      <a:pt x="4" y="7"/>
                      <a:pt x="3" y="8"/>
                      <a:pt x="4" y="9"/>
                    </a:cubicBezTo>
                    <a:close/>
                    <a:moveTo>
                      <a:pt x="15" y="8"/>
                    </a:moveTo>
                    <a:cubicBezTo>
                      <a:pt x="21" y="6"/>
                      <a:pt x="27" y="9"/>
                      <a:pt x="29" y="15"/>
                    </a:cubicBezTo>
                    <a:cubicBezTo>
                      <a:pt x="31" y="21"/>
                      <a:pt x="27" y="27"/>
                      <a:pt x="22" y="29"/>
                    </a:cubicBezTo>
                    <a:cubicBezTo>
                      <a:pt x="16" y="30"/>
                      <a:pt x="10" y="27"/>
                      <a:pt x="8" y="22"/>
                    </a:cubicBezTo>
                    <a:cubicBezTo>
                      <a:pt x="6" y="16"/>
                      <a:pt x="10" y="10"/>
                      <a:pt x="15" y="8"/>
                    </a:cubicBezTo>
                    <a:close/>
                  </a:path>
                </a:pathLst>
              </a:custGeom>
              <a:solidFill>
                <a:srgbClr val="FFD52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Freeform 303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5084763" y="1111250"/>
                <a:ext cx="109538" cy="104775"/>
              </a:xfrm>
              <a:custGeom>
                <a:avLst/>
                <a:gdLst>
                  <a:gd name="T0" fmla="*/ 3 w 29"/>
                  <a:gd name="T1" fmla="*/ 7 h 28"/>
                  <a:gd name="T2" fmla="*/ 4 w 29"/>
                  <a:gd name="T3" fmla="*/ 9 h 28"/>
                  <a:gd name="T4" fmla="*/ 2 w 29"/>
                  <a:gd name="T5" fmla="*/ 9 h 28"/>
                  <a:gd name="T6" fmla="*/ 0 w 29"/>
                  <a:gd name="T7" fmla="*/ 11 h 28"/>
                  <a:gd name="T8" fmla="*/ 1 w 29"/>
                  <a:gd name="T9" fmla="*/ 13 h 28"/>
                  <a:gd name="T10" fmla="*/ 3 w 29"/>
                  <a:gd name="T11" fmla="*/ 15 h 28"/>
                  <a:gd name="T12" fmla="*/ 1 w 29"/>
                  <a:gd name="T13" fmla="*/ 16 h 28"/>
                  <a:gd name="T14" fmla="*/ 1 w 29"/>
                  <a:gd name="T15" fmla="*/ 19 h 28"/>
                  <a:gd name="T16" fmla="*/ 3 w 29"/>
                  <a:gd name="T17" fmla="*/ 20 h 28"/>
                  <a:gd name="T18" fmla="*/ 4 w 29"/>
                  <a:gd name="T19" fmla="*/ 20 h 28"/>
                  <a:gd name="T20" fmla="*/ 4 w 29"/>
                  <a:gd name="T21" fmla="*/ 23 h 28"/>
                  <a:gd name="T22" fmla="*/ 5 w 29"/>
                  <a:gd name="T23" fmla="*/ 25 h 28"/>
                  <a:gd name="T24" fmla="*/ 7 w 29"/>
                  <a:gd name="T25" fmla="*/ 25 h 28"/>
                  <a:gd name="T26" fmla="*/ 9 w 29"/>
                  <a:gd name="T27" fmla="*/ 25 h 28"/>
                  <a:gd name="T28" fmla="*/ 10 w 29"/>
                  <a:gd name="T29" fmla="*/ 27 h 28"/>
                  <a:gd name="T30" fmla="*/ 11 w 29"/>
                  <a:gd name="T31" fmla="*/ 28 h 28"/>
                  <a:gd name="T32" fmla="*/ 13 w 29"/>
                  <a:gd name="T33" fmla="*/ 27 h 28"/>
                  <a:gd name="T34" fmla="*/ 15 w 29"/>
                  <a:gd name="T35" fmla="*/ 26 h 28"/>
                  <a:gd name="T36" fmla="*/ 17 w 29"/>
                  <a:gd name="T37" fmla="*/ 27 h 28"/>
                  <a:gd name="T38" fmla="*/ 19 w 29"/>
                  <a:gd name="T39" fmla="*/ 28 h 28"/>
                  <a:gd name="T40" fmla="*/ 20 w 29"/>
                  <a:gd name="T41" fmla="*/ 26 h 28"/>
                  <a:gd name="T42" fmla="*/ 21 w 29"/>
                  <a:gd name="T43" fmla="*/ 24 h 28"/>
                  <a:gd name="T44" fmla="*/ 23 w 29"/>
                  <a:gd name="T45" fmla="*/ 24 h 28"/>
                  <a:gd name="T46" fmla="*/ 25 w 29"/>
                  <a:gd name="T47" fmla="*/ 24 h 28"/>
                  <a:gd name="T48" fmla="*/ 25 w 29"/>
                  <a:gd name="T49" fmla="*/ 21 h 28"/>
                  <a:gd name="T50" fmla="*/ 25 w 29"/>
                  <a:gd name="T51" fmla="*/ 19 h 28"/>
                  <a:gd name="T52" fmla="*/ 27 w 29"/>
                  <a:gd name="T53" fmla="*/ 19 h 28"/>
                  <a:gd name="T54" fmla="*/ 29 w 29"/>
                  <a:gd name="T55" fmla="*/ 17 h 28"/>
                  <a:gd name="T56" fmla="*/ 28 w 29"/>
                  <a:gd name="T57" fmla="*/ 15 h 28"/>
                  <a:gd name="T58" fmla="*/ 26 w 29"/>
                  <a:gd name="T59" fmla="*/ 13 h 28"/>
                  <a:gd name="T60" fmla="*/ 27 w 29"/>
                  <a:gd name="T61" fmla="*/ 12 h 28"/>
                  <a:gd name="T62" fmla="*/ 28 w 29"/>
                  <a:gd name="T63" fmla="*/ 10 h 28"/>
                  <a:gd name="T64" fmla="*/ 26 w 29"/>
                  <a:gd name="T65" fmla="*/ 8 h 28"/>
                  <a:gd name="T66" fmla="*/ 24 w 29"/>
                  <a:gd name="T67" fmla="*/ 7 h 28"/>
                  <a:gd name="T68" fmla="*/ 25 w 29"/>
                  <a:gd name="T69" fmla="*/ 6 h 28"/>
                  <a:gd name="T70" fmla="*/ 24 w 29"/>
                  <a:gd name="T71" fmla="*/ 3 h 28"/>
                  <a:gd name="T72" fmla="*/ 22 w 29"/>
                  <a:gd name="T73" fmla="*/ 3 h 28"/>
                  <a:gd name="T74" fmla="*/ 19 w 29"/>
                  <a:gd name="T75" fmla="*/ 3 h 28"/>
                  <a:gd name="T76" fmla="*/ 19 w 29"/>
                  <a:gd name="T77" fmla="*/ 2 h 28"/>
                  <a:gd name="T78" fmla="*/ 17 w 29"/>
                  <a:gd name="T79" fmla="*/ 0 h 28"/>
                  <a:gd name="T80" fmla="*/ 15 w 29"/>
                  <a:gd name="T81" fmla="*/ 1 h 28"/>
                  <a:gd name="T82" fmla="*/ 13 w 29"/>
                  <a:gd name="T83" fmla="*/ 2 h 28"/>
                  <a:gd name="T84" fmla="*/ 12 w 29"/>
                  <a:gd name="T85" fmla="*/ 1 h 28"/>
                  <a:gd name="T86" fmla="*/ 10 w 29"/>
                  <a:gd name="T87" fmla="*/ 0 h 28"/>
                  <a:gd name="T88" fmla="*/ 9 w 29"/>
                  <a:gd name="T89" fmla="*/ 2 h 28"/>
                  <a:gd name="T90" fmla="*/ 8 w 29"/>
                  <a:gd name="T91" fmla="*/ 4 h 28"/>
                  <a:gd name="T92" fmla="*/ 6 w 29"/>
                  <a:gd name="T93" fmla="*/ 4 h 28"/>
                  <a:gd name="T94" fmla="*/ 4 w 29"/>
                  <a:gd name="T95" fmla="*/ 4 h 28"/>
                  <a:gd name="T96" fmla="*/ 3 w 29"/>
                  <a:gd name="T97" fmla="*/ 7 h 28"/>
                  <a:gd name="T98" fmla="*/ 12 w 29"/>
                  <a:gd name="T99" fmla="*/ 6 h 28"/>
                  <a:gd name="T100" fmla="*/ 22 w 29"/>
                  <a:gd name="T101" fmla="*/ 12 h 28"/>
                  <a:gd name="T102" fmla="*/ 17 w 29"/>
                  <a:gd name="T103" fmla="*/ 22 h 28"/>
                  <a:gd name="T104" fmla="*/ 6 w 29"/>
                  <a:gd name="T105" fmla="*/ 17 h 28"/>
                  <a:gd name="T106" fmla="*/ 12 w 29"/>
                  <a:gd name="T107" fmla="*/ 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9" h="28">
                    <a:moveTo>
                      <a:pt x="3" y="7"/>
                    </a:moveTo>
                    <a:cubicBezTo>
                      <a:pt x="4" y="7"/>
                      <a:pt x="4" y="9"/>
                      <a:pt x="4" y="9"/>
                    </a:cubicBezTo>
                    <a:cubicBezTo>
                      <a:pt x="4" y="9"/>
                      <a:pt x="3" y="10"/>
                      <a:pt x="2" y="9"/>
                    </a:cubicBezTo>
                    <a:cubicBezTo>
                      <a:pt x="1" y="9"/>
                      <a:pt x="0" y="10"/>
                      <a:pt x="0" y="11"/>
                    </a:cubicBezTo>
                    <a:cubicBezTo>
                      <a:pt x="0" y="12"/>
                      <a:pt x="0" y="13"/>
                      <a:pt x="1" y="13"/>
                    </a:cubicBezTo>
                    <a:cubicBezTo>
                      <a:pt x="2" y="13"/>
                      <a:pt x="3" y="15"/>
                      <a:pt x="3" y="15"/>
                    </a:cubicBezTo>
                    <a:cubicBezTo>
                      <a:pt x="3" y="16"/>
                      <a:pt x="2" y="16"/>
                      <a:pt x="1" y="16"/>
                    </a:cubicBezTo>
                    <a:cubicBezTo>
                      <a:pt x="1" y="17"/>
                      <a:pt x="0" y="18"/>
                      <a:pt x="1" y="19"/>
                    </a:cubicBezTo>
                    <a:cubicBezTo>
                      <a:pt x="1" y="20"/>
                      <a:pt x="2" y="20"/>
                      <a:pt x="3" y="20"/>
                    </a:cubicBezTo>
                    <a:cubicBezTo>
                      <a:pt x="3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4" y="23"/>
                    </a:cubicBezTo>
                    <a:cubicBezTo>
                      <a:pt x="4" y="23"/>
                      <a:pt x="4" y="24"/>
                      <a:pt x="5" y="25"/>
                    </a:cubicBezTo>
                    <a:cubicBezTo>
                      <a:pt x="5" y="26"/>
                      <a:pt x="7" y="26"/>
                      <a:pt x="7" y="25"/>
                    </a:cubicBezTo>
                    <a:cubicBezTo>
                      <a:pt x="8" y="25"/>
                      <a:pt x="9" y="25"/>
                      <a:pt x="9" y="25"/>
                    </a:cubicBezTo>
                    <a:cubicBezTo>
                      <a:pt x="10" y="25"/>
                      <a:pt x="10" y="26"/>
                      <a:pt x="10" y="27"/>
                    </a:cubicBezTo>
                    <a:cubicBezTo>
                      <a:pt x="10" y="27"/>
                      <a:pt x="10" y="28"/>
                      <a:pt x="11" y="28"/>
                    </a:cubicBezTo>
                    <a:cubicBezTo>
                      <a:pt x="12" y="28"/>
                      <a:pt x="13" y="28"/>
                      <a:pt x="13" y="27"/>
                    </a:cubicBezTo>
                    <a:cubicBezTo>
                      <a:pt x="14" y="27"/>
                      <a:pt x="15" y="26"/>
                      <a:pt x="15" y="26"/>
                    </a:cubicBezTo>
                    <a:cubicBezTo>
                      <a:pt x="16" y="26"/>
                      <a:pt x="16" y="26"/>
                      <a:pt x="17" y="27"/>
                    </a:cubicBezTo>
                    <a:cubicBezTo>
                      <a:pt x="17" y="28"/>
                      <a:pt x="18" y="28"/>
                      <a:pt x="19" y="28"/>
                    </a:cubicBezTo>
                    <a:cubicBezTo>
                      <a:pt x="20" y="28"/>
                      <a:pt x="20" y="27"/>
                      <a:pt x="20" y="26"/>
                    </a:cubicBezTo>
                    <a:cubicBezTo>
                      <a:pt x="20" y="25"/>
                      <a:pt x="21" y="24"/>
                      <a:pt x="21" y="24"/>
                    </a:cubicBezTo>
                    <a:cubicBezTo>
                      <a:pt x="21" y="24"/>
                      <a:pt x="22" y="24"/>
                      <a:pt x="23" y="24"/>
                    </a:cubicBezTo>
                    <a:cubicBezTo>
                      <a:pt x="23" y="25"/>
                      <a:pt x="24" y="25"/>
                      <a:pt x="25" y="24"/>
                    </a:cubicBezTo>
                    <a:cubicBezTo>
                      <a:pt x="26" y="23"/>
                      <a:pt x="26" y="22"/>
                      <a:pt x="25" y="21"/>
                    </a:cubicBezTo>
                    <a:cubicBezTo>
                      <a:pt x="25" y="21"/>
                      <a:pt x="25" y="20"/>
                      <a:pt x="25" y="19"/>
                    </a:cubicBezTo>
                    <a:cubicBezTo>
                      <a:pt x="25" y="19"/>
                      <a:pt x="26" y="19"/>
                      <a:pt x="27" y="19"/>
                    </a:cubicBezTo>
                    <a:cubicBezTo>
                      <a:pt x="28" y="19"/>
                      <a:pt x="28" y="18"/>
                      <a:pt x="29" y="17"/>
                    </a:cubicBezTo>
                    <a:cubicBezTo>
                      <a:pt x="29" y="16"/>
                      <a:pt x="28" y="15"/>
                      <a:pt x="28" y="15"/>
                    </a:cubicBezTo>
                    <a:cubicBezTo>
                      <a:pt x="27" y="15"/>
                      <a:pt x="26" y="14"/>
                      <a:pt x="26" y="13"/>
                    </a:cubicBezTo>
                    <a:cubicBezTo>
                      <a:pt x="26" y="13"/>
                      <a:pt x="27" y="12"/>
                      <a:pt x="27" y="12"/>
                    </a:cubicBezTo>
                    <a:cubicBezTo>
                      <a:pt x="28" y="12"/>
                      <a:pt x="28" y="11"/>
                      <a:pt x="28" y="10"/>
                    </a:cubicBezTo>
                    <a:cubicBezTo>
                      <a:pt x="28" y="9"/>
                      <a:pt x="27" y="8"/>
                      <a:pt x="26" y="8"/>
                    </a:cubicBezTo>
                    <a:cubicBezTo>
                      <a:pt x="26" y="9"/>
                      <a:pt x="24" y="8"/>
                      <a:pt x="24" y="7"/>
                    </a:cubicBezTo>
                    <a:cubicBezTo>
                      <a:pt x="24" y="7"/>
                      <a:pt x="24" y="6"/>
                      <a:pt x="25" y="6"/>
                    </a:cubicBezTo>
                    <a:cubicBezTo>
                      <a:pt x="25" y="5"/>
                      <a:pt x="25" y="4"/>
                      <a:pt x="24" y="3"/>
                    </a:cubicBezTo>
                    <a:cubicBezTo>
                      <a:pt x="23" y="3"/>
                      <a:pt x="22" y="3"/>
                      <a:pt x="22" y="3"/>
                    </a:cubicBezTo>
                    <a:cubicBezTo>
                      <a:pt x="21" y="4"/>
                      <a:pt x="20" y="4"/>
                      <a:pt x="19" y="3"/>
                    </a:cubicBezTo>
                    <a:cubicBezTo>
                      <a:pt x="19" y="3"/>
                      <a:pt x="19" y="2"/>
                      <a:pt x="19" y="2"/>
                    </a:cubicBezTo>
                    <a:cubicBezTo>
                      <a:pt x="19" y="1"/>
                      <a:pt x="18" y="0"/>
                      <a:pt x="17" y="0"/>
                    </a:cubicBezTo>
                    <a:cubicBezTo>
                      <a:pt x="16" y="0"/>
                      <a:pt x="15" y="0"/>
                      <a:pt x="15" y="1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3" y="2"/>
                      <a:pt x="12" y="2"/>
                      <a:pt x="12" y="1"/>
                    </a:cubicBezTo>
                    <a:cubicBezTo>
                      <a:pt x="12" y="0"/>
                      <a:pt x="11" y="0"/>
                      <a:pt x="10" y="0"/>
                    </a:cubicBezTo>
                    <a:cubicBezTo>
                      <a:pt x="9" y="1"/>
                      <a:pt x="8" y="2"/>
                      <a:pt x="9" y="2"/>
                    </a:cubicBezTo>
                    <a:cubicBezTo>
                      <a:pt x="9" y="3"/>
                      <a:pt x="8" y="4"/>
                      <a:pt x="8" y="4"/>
                    </a:cubicBezTo>
                    <a:cubicBezTo>
                      <a:pt x="7" y="5"/>
                      <a:pt x="7" y="4"/>
                      <a:pt x="6" y="4"/>
                    </a:cubicBezTo>
                    <a:cubicBezTo>
                      <a:pt x="5" y="3"/>
                      <a:pt x="4" y="4"/>
                      <a:pt x="4" y="4"/>
                    </a:cubicBezTo>
                    <a:cubicBezTo>
                      <a:pt x="3" y="5"/>
                      <a:pt x="3" y="6"/>
                      <a:pt x="3" y="7"/>
                    </a:cubicBezTo>
                    <a:close/>
                    <a:moveTo>
                      <a:pt x="12" y="6"/>
                    </a:moveTo>
                    <a:cubicBezTo>
                      <a:pt x="16" y="5"/>
                      <a:pt x="21" y="7"/>
                      <a:pt x="22" y="12"/>
                    </a:cubicBezTo>
                    <a:cubicBezTo>
                      <a:pt x="24" y="16"/>
                      <a:pt x="21" y="21"/>
                      <a:pt x="17" y="22"/>
                    </a:cubicBezTo>
                    <a:cubicBezTo>
                      <a:pt x="13" y="23"/>
                      <a:pt x="8" y="21"/>
                      <a:pt x="6" y="17"/>
                    </a:cubicBezTo>
                    <a:cubicBezTo>
                      <a:pt x="5" y="12"/>
                      <a:pt x="7" y="8"/>
                      <a:pt x="12" y="6"/>
                    </a:cubicBezTo>
                    <a:close/>
                  </a:path>
                </a:pathLst>
              </a:custGeom>
              <a:solidFill>
                <a:srgbClr val="FFD52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0" name="组合 19"/>
          <p:cNvGrpSpPr/>
          <p:nvPr>
            <p:custDataLst>
              <p:tags r:id="rId7"/>
            </p:custDataLst>
          </p:nvPr>
        </p:nvGrpSpPr>
        <p:grpSpPr>
          <a:xfrm>
            <a:off x="940903" y="4260771"/>
            <a:ext cx="662952" cy="662952"/>
            <a:chOff x="8125599" y="1434035"/>
            <a:chExt cx="2036802" cy="2036802"/>
          </a:xfrm>
          <a:solidFill>
            <a:schemeClr val="bg1"/>
          </a:solidFill>
        </p:grpSpPr>
        <p:sp>
          <p:nvSpPr>
            <p:cNvPr id="21" name="椭圆 20"/>
            <p:cNvSpPr/>
            <p:nvPr>
              <p:custDataLst>
                <p:tags r:id="rId8"/>
              </p:custDataLst>
            </p:nvPr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22" name="Freeform 9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 rot="19469485">
              <a:off x="8577909" y="1818269"/>
              <a:ext cx="1162163" cy="1238355"/>
            </a:xfrm>
            <a:custGeom>
              <a:avLst/>
              <a:gdLst>
                <a:gd name="T0" fmla="*/ 147 w 243"/>
                <a:gd name="T1" fmla="*/ 240 h 269"/>
                <a:gd name="T2" fmla="*/ 90 w 243"/>
                <a:gd name="T3" fmla="*/ 234 h 269"/>
                <a:gd name="T4" fmla="*/ 147 w 243"/>
                <a:gd name="T5" fmla="*/ 227 h 269"/>
                <a:gd name="T6" fmla="*/ 147 w 243"/>
                <a:gd name="T7" fmla="*/ 243 h 269"/>
                <a:gd name="T8" fmla="*/ 90 w 243"/>
                <a:gd name="T9" fmla="*/ 252 h 269"/>
                <a:gd name="T10" fmla="*/ 96 w 243"/>
                <a:gd name="T11" fmla="*/ 256 h 269"/>
                <a:gd name="T12" fmla="*/ 105 w 243"/>
                <a:gd name="T13" fmla="*/ 262 h 269"/>
                <a:gd name="T14" fmla="*/ 126 w 243"/>
                <a:gd name="T15" fmla="*/ 269 h 269"/>
                <a:gd name="T16" fmla="*/ 138 w 243"/>
                <a:gd name="T17" fmla="*/ 261 h 269"/>
                <a:gd name="T18" fmla="*/ 147 w 243"/>
                <a:gd name="T19" fmla="*/ 256 h 269"/>
                <a:gd name="T20" fmla="*/ 147 w 243"/>
                <a:gd name="T21" fmla="*/ 243 h 269"/>
                <a:gd name="T22" fmla="*/ 128 w 243"/>
                <a:gd name="T23" fmla="*/ 32 h 269"/>
                <a:gd name="T24" fmla="*/ 122 w 243"/>
                <a:gd name="T25" fmla="*/ 0 h 269"/>
                <a:gd name="T26" fmla="*/ 115 w 243"/>
                <a:gd name="T27" fmla="*/ 32 h 269"/>
                <a:gd name="T28" fmla="*/ 54 w 243"/>
                <a:gd name="T29" fmla="*/ 63 h 269"/>
                <a:gd name="T30" fmla="*/ 63 w 243"/>
                <a:gd name="T31" fmla="*/ 63 h 269"/>
                <a:gd name="T32" fmla="*/ 45 w 243"/>
                <a:gd name="T33" fmla="*/ 36 h 269"/>
                <a:gd name="T34" fmla="*/ 36 w 243"/>
                <a:gd name="T35" fmla="*/ 45 h 269"/>
                <a:gd name="T36" fmla="*/ 38 w 243"/>
                <a:gd name="T37" fmla="*/ 122 h 269"/>
                <a:gd name="T38" fmla="*/ 6 w 243"/>
                <a:gd name="T39" fmla="*/ 115 h 269"/>
                <a:gd name="T40" fmla="*/ 6 w 243"/>
                <a:gd name="T41" fmla="*/ 128 h 269"/>
                <a:gd name="T42" fmla="*/ 38 w 243"/>
                <a:gd name="T43" fmla="*/ 122 h 269"/>
                <a:gd name="T44" fmla="*/ 36 w 243"/>
                <a:gd name="T45" fmla="*/ 199 h 269"/>
                <a:gd name="T46" fmla="*/ 40 w 243"/>
                <a:gd name="T47" fmla="*/ 209 h 269"/>
                <a:gd name="T48" fmla="*/ 63 w 243"/>
                <a:gd name="T49" fmla="*/ 189 h 269"/>
                <a:gd name="T50" fmla="*/ 54 w 243"/>
                <a:gd name="T51" fmla="*/ 180 h 269"/>
                <a:gd name="T52" fmla="*/ 180 w 243"/>
                <a:gd name="T53" fmla="*/ 180 h 269"/>
                <a:gd name="T54" fmla="*/ 199 w 243"/>
                <a:gd name="T55" fmla="*/ 208 h 269"/>
                <a:gd name="T56" fmla="*/ 208 w 243"/>
                <a:gd name="T57" fmla="*/ 208 h 269"/>
                <a:gd name="T58" fmla="*/ 189 w 243"/>
                <a:gd name="T59" fmla="*/ 180 h 269"/>
                <a:gd name="T60" fmla="*/ 211 w 243"/>
                <a:gd name="T61" fmla="*/ 115 h 269"/>
                <a:gd name="T62" fmla="*/ 211 w 243"/>
                <a:gd name="T63" fmla="*/ 128 h 269"/>
                <a:gd name="T64" fmla="*/ 243 w 243"/>
                <a:gd name="T65" fmla="*/ 122 h 269"/>
                <a:gd name="T66" fmla="*/ 185 w 243"/>
                <a:gd name="T67" fmla="*/ 65 h 269"/>
                <a:gd name="T68" fmla="*/ 208 w 243"/>
                <a:gd name="T69" fmla="*/ 45 h 269"/>
                <a:gd name="T70" fmla="*/ 199 w 243"/>
                <a:gd name="T71" fmla="*/ 36 h 269"/>
                <a:gd name="T72" fmla="*/ 180 w 243"/>
                <a:gd name="T73" fmla="*/ 63 h 269"/>
                <a:gd name="T74" fmla="*/ 154 w 243"/>
                <a:gd name="T75" fmla="*/ 218 h 269"/>
                <a:gd name="T76" fmla="*/ 96 w 243"/>
                <a:gd name="T77" fmla="*/ 224 h 269"/>
                <a:gd name="T78" fmla="*/ 96 w 243"/>
                <a:gd name="T79" fmla="*/ 211 h 269"/>
                <a:gd name="T80" fmla="*/ 122 w 243"/>
                <a:gd name="T81" fmla="*/ 58 h 269"/>
                <a:gd name="T82" fmla="*/ 148 w 243"/>
                <a:gd name="T83" fmla="*/ 211 h 269"/>
                <a:gd name="T84" fmla="*/ 107 w 243"/>
                <a:gd name="T85" fmla="*/ 76 h 269"/>
                <a:gd name="T86" fmla="*/ 67 w 243"/>
                <a:gd name="T87" fmla="*/ 111 h 269"/>
                <a:gd name="T88" fmla="*/ 72 w 243"/>
                <a:gd name="T89" fmla="*/ 117 h 269"/>
                <a:gd name="T90" fmla="*/ 104 w 243"/>
                <a:gd name="T91" fmla="*/ 82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3" h="269">
                  <a:moveTo>
                    <a:pt x="154" y="234"/>
                  </a:moveTo>
                  <a:cubicBezTo>
                    <a:pt x="154" y="237"/>
                    <a:pt x="151" y="240"/>
                    <a:pt x="147" y="240"/>
                  </a:cubicBezTo>
                  <a:cubicBezTo>
                    <a:pt x="96" y="240"/>
                    <a:pt x="96" y="240"/>
                    <a:pt x="96" y="240"/>
                  </a:cubicBezTo>
                  <a:cubicBezTo>
                    <a:pt x="92" y="240"/>
                    <a:pt x="90" y="237"/>
                    <a:pt x="90" y="234"/>
                  </a:cubicBezTo>
                  <a:cubicBezTo>
                    <a:pt x="90" y="230"/>
                    <a:pt x="92" y="227"/>
                    <a:pt x="96" y="227"/>
                  </a:cubicBezTo>
                  <a:cubicBezTo>
                    <a:pt x="147" y="227"/>
                    <a:pt x="147" y="227"/>
                    <a:pt x="147" y="227"/>
                  </a:cubicBezTo>
                  <a:cubicBezTo>
                    <a:pt x="151" y="227"/>
                    <a:pt x="154" y="230"/>
                    <a:pt x="154" y="234"/>
                  </a:cubicBezTo>
                  <a:close/>
                  <a:moveTo>
                    <a:pt x="147" y="243"/>
                  </a:moveTo>
                  <a:cubicBezTo>
                    <a:pt x="96" y="243"/>
                    <a:pt x="96" y="243"/>
                    <a:pt x="96" y="243"/>
                  </a:cubicBezTo>
                  <a:cubicBezTo>
                    <a:pt x="92" y="243"/>
                    <a:pt x="89" y="247"/>
                    <a:pt x="90" y="252"/>
                  </a:cubicBezTo>
                  <a:cubicBezTo>
                    <a:pt x="91" y="254"/>
                    <a:pt x="93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100" y="256"/>
                    <a:pt x="103" y="258"/>
                    <a:pt x="105" y="261"/>
                  </a:cubicBezTo>
                  <a:cubicBezTo>
                    <a:pt x="105" y="262"/>
                    <a:pt x="105" y="262"/>
                    <a:pt x="105" y="262"/>
                  </a:cubicBezTo>
                  <a:cubicBezTo>
                    <a:pt x="107" y="266"/>
                    <a:pt x="112" y="269"/>
                    <a:pt x="117" y="269"/>
                  </a:cubicBezTo>
                  <a:cubicBezTo>
                    <a:pt x="126" y="269"/>
                    <a:pt x="126" y="269"/>
                    <a:pt x="126" y="269"/>
                  </a:cubicBezTo>
                  <a:cubicBezTo>
                    <a:pt x="131" y="269"/>
                    <a:pt x="136" y="266"/>
                    <a:pt x="138" y="262"/>
                  </a:cubicBezTo>
                  <a:cubicBezTo>
                    <a:pt x="138" y="261"/>
                    <a:pt x="138" y="261"/>
                    <a:pt x="138" y="261"/>
                  </a:cubicBezTo>
                  <a:cubicBezTo>
                    <a:pt x="140" y="258"/>
                    <a:pt x="143" y="256"/>
                    <a:pt x="147" y="256"/>
                  </a:cubicBezTo>
                  <a:cubicBezTo>
                    <a:pt x="147" y="256"/>
                    <a:pt x="147" y="256"/>
                    <a:pt x="147" y="256"/>
                  </a:cubicBezTo>
                  <a:cubicBezTo>
                    <a:pt x="150" y="256"/>
                    <a:pt x="152" y="254"/>
                    <a:pt x="153" y="252"/>
                  </a:cubicBezTo>
                  <a:cubicBezTo>
                    <a:pt x="155" y="247"/>
                    <a:pt x="151" y="243"/>
                    <a:pt x="147" y="243"/>
                  </a:cubicBezTo>
                  <a:close/>
                  <a:moveTo>
                    <a:pt x="122" y="38"/>
                  </a:moveTo>
                  <a:cubicBezTo>
                    <a:pt x="125" y="38"/>
                    <a:pt x="128" y="36"/>
                    <a:pt x="128" y="32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ubicBezTo>
                    <a:pt x="118" y="0"/>
                    <a:pt x="115" y="3"/>
                    <a:pt x="115" y="6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6"/>
                    <a:pt x="118" y="38"/>
                    <a:pt x="122" y="38"/>
                  </a:cubicBezTo>
                  <a:close/>
                  <a:moveTo>
                    <a:pt x="54" y="63"/>
                  </a:moveTo>
                  <a:cubicBezTo>
                    <a:pt x="55" y="64"/>
                    <a:pt x="57" y="65"/>
                    <a:pt x="58" y="65"/>
                  </a:cubicBezTo>
                  <a:cubicBezTo>
                    <a:pt x="60" y="65"/>
                    <a:pt x="62" y="64"/>
                    <a:pt x="63" y="63"/>
                  </a:cubicBezTo>
                  <a:cubicBezTo>
                    <a:pt x="65" y="60"/>
                    <a:pt x="65" y="56"/>
                    <a:pt x="63" y="54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2" y="33"/>
                    <a:pt x="38" y="33"/>
                    <a:pt x="36" y="36"/>
                  </a:cubicBezTo>
                  <a:cubicBezTo>
                    <a:pt x="33" y="38"/>
                    <a:pt x="33" y="42"/>
                    <a:pt x="36" y="45"/>
                  </a:cubicBezTo>
                  <a:lnTo>
                    <a:pt x="54" y="63"/>
                  </a:lnTo>
                  <a:close/>
                  <a:moveTo>
                    <a:pt x="38" y="122"/>
                  </a:moveTo>
                  <a:cubicBezTo>
                    <a:pt x="38" y="118"/>
                    <a:pt x="36" y="115"/>
                    <a:pt x="32" y="115"/>
                  </a:cubicBezTo>
                  <a:cubicBezTo>
                    <a:pt x="6" y="115"/>
                    <a:pt x="6" y="115"/>
                    <a:pt x="6" y="115"/>
                  </a:cubicBezTo>
                  <a:cubicBezTo>
                    <a:pt x="3" y="115"/>
                    <a:pt x="0" y="118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6" y="128"/>
                    <a:pt x="38" y="125"/>
                    <a:pt x="38" y="122"/>
                  </a:cubicBezTo>
                  <a:close/>
                  <a:moveTo>
                    <a:pt x="54" y="180"/>
                  </a:moveTo>
                  <a:cubicBezTo>
                    <a:pt x="36" y="199"/>
                    <a:pt x="36" y="199"/>
                    <a:pt x="36" y="199"/>
                  </a:cubicBezTo>
                  <a:cubicBezTo>
                    <a:pt x="33" y="201"/>
                    <a:pt x="33" y="205"/>
                    <a:pt x="36" y="208"/>
                  </a:cubicBezTo>
                  <a:cubicBezTo>
                    <a:pt x="37" y="209"/>
                    <a:pt x="39" y="209"/>
                    <a:pt x="40" y="209"/>
                  </a:cubicBezTo>
                  <a:cubicBezTo>
                    <a:pt x="42" y="209"/>
                    <a:pt x="43" y="209"/>
                    <a:pt x="45" y="208"/>
                  </a:cubicBezTo>
                  <a:cubicBezTo>
                    <a:pt x="63" y="189"/>
                    <a:pt x="63" y="189"/>
                    <a:pt x="63" y="189"/>
                  </a:cubicBezTo>
                  <a:cubicBezTo>
                    <a:pt x="65" y="187"/>
                    <a:pt x="65" y="183"/>
                    <a:pt x="63" y="180"/>
                  </a:cubicBezTo>
                  <a:cubicBezTo>
                    <a:pt x="60" y="178"/>
                    <a:pt x="56" y="178"/>
                    <a:pt x="54" y="180"/>
                  </a:cubicBezTo>
                  <a:close/>
                  <a:moveTo>
                    <a:pt x="189" y="180"/>
                  </a:moveTo>
                  <a:cubicBezTo>
                    <a:pt x="187" y="178"/>
                    <a:pt x="183" y="178"/>
                    <a:pt x="180" y="180"/>
                  </a:cubicBezTo>
                  <a:cubicBezTo>
                    <a:pt x="178" y="183"/>
                    <a:pt x="178" y="187"/>
                    <a:pt x="180" y="189"/>
                  </a:cubicBezTo>
                  <a:cubicBezTo>
                    <a:pt x="199" y="208"/>
                    <a:pt x="199" y="208"/>
                    <a:pt x="199" y="208"/>
                  </a:cubicBezTo>
                  <a:cubicBezTo>
                    <a:pt x="200" y="209"/>
                    <a:pt x="201" y="209"/>
                    <a:pt x="203" y="209"/>
                  </a:cubicBezTo>
                  <a:cubicBezTo>
                    <a:pt x="205" y="209"/>
                    <a:pt x="206" y="209"/>
                    <a:pt x="208" y="208"/>
                  </a:cubicBezTo>
                  <a:cubicBezTo>
                    <a:pt x="210" y="205"/>
                    <a:pt x="210" y="201"/>
                    <a:pt x="208" y="199"/>
                  </a:cubicBezTo>
                  <a:lnTo>
                    <a:pt x="189" y="180"/>
                  </a:lnTo>
                  <a:close/>
                  <a:moveTo>
                    <a:pt x="237" y="115"/>
                  </a:moveTo>
                  <a:cubicBezTo>
                    <a:pt x="211" y="115"/>
                    <a:pt x="211" y="115"/>
                    <a:pt x="211" y="115"/>
                  </a:cubicBezTo>
                  <a:cubicBezTo>
                    <a:pt x="208" y="115"/>
                    <a:pt x="205" y="118"/>
                    <a:pt x="205" y="122"/>
                  </a:cubicBezTo>
                  <a:cubicBezTo>
                    <a:pt x="205" y="125"/>
                    <a:pt x="208" y="128"/>
                    <a:pt x="211" y="128"/>
                  </a:cubicBezTo>
                  <a:cubicBezTo>
                    <a:pt x="237" y="128"/>
                    <a:pt x="237" y="128"/>
                    <a:pt x="237" y="128"/>
                  </a:cubicBezTo>
                  <a:cubicBezTo>
                    <a:pt x="240" y="128"/>
                    <a:pt x="243" y="125"/>
                    <a:pt x="243" y="122"/>
                  </a:cubicBezTo>
                  <a:cubicBezTo>
                    <a:pt x="243" y="118"/>
                    <a:pt x="240" y="115"/>
                    <a:pt x="237" y="115"/>
                  </a:cubicBezTo>
                  <a:close/>
                  <a:moveTo>
                    <a:pt x="185" y="65"/>
                  </a:moveTo>
                  <a:cubicBezTo>
                    <a:pt x="187" y="65"/>
                    <a:pt x="188" y="64"/>
                    <a:pt x="189" y="63"/>
                  </a:cubicBezTo>
                  <a:cubicBezTo>
                    <a:pt x="208" y="45"/>
                    <a:pt x="208" y="45"/>
                    <a:pt x="208" y="45"/>
                  </a:cubicBezTo>
                  <a:cubicBezTo>
                    <a:pt x="210" y="42"/>
                    <a:pt x="210" y="38"/>
                    <a:pt x="208" y="36"/>
                  </a:cubicBezTo>
                  <a:cubicBezTo>
                    <a:pt x="205" y="33"/>
                    <a:pt x="201" y="33"/>
                    <a:pt x="199" y="36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78" y="56"/>
                    <a:pt x="178" y="60"/>
                    <a:pt x="180" y="63"/>
                  </a:cubicBezTo>
                  <a:cubicBezTo>
                    <a:pt x="182" y="64"/>
                    <a:pt x="183" y="65"/>
                    <a:pt x="185" y="65"/>
                  </a:cubicBezTo>
                  <a:close/>
                  <a:moveTo>
                    <a:pt x="154" y="218"/>
                  </a:moveTo>
                  <a:cubicBezTo>
                    <a:pt x="154" y="221"/>
                    <a:pt x="151" y="224"/>
                    <a:pt x="147" y="224"/>
                  </a:cubicBezTo>
                  <a:cubicBezTo>
                    <a:pt x="96" y="224"/>
                    <a:pt x="96" y="224"/>
                    <a:pt x="96" y="224"/>
                  </a:cubicBezTo>
                  <a:cubicBezTo>
                    <a:pt x="92" y="224"/>
                    <a:pt x="90" y="221"/>
                    <a:pt x="90" y="218"/>
                  </a:cubicBezTo>
                  <a:cubicBezTo>
                    <a:pt x="90" y="214"/>
                    <a:pt x="92" y="211"/>
                    <a:pt x="96" y="211"/>
                  </a:cubicBezTo>
                  <a:cubicBezTo>
                    <a:pt x="92" y="175"/>
                    <a:pt x="54" y="167"/>
                    <a:pt x="54" y="125"/>
                  </a:cubicBezTo>
                  <a:cubicBezTo>
                    <a:pt x="54" y="88"/>
                    <a:pt x="84" y="58"/>
                    <a:pt x="122" y="58"/>
                  </a:cubicBezTo>
                  <a:cubicBezTo>
                    <a:pt x="159" y="58"/>
                    <a:pt x="189" y="88"/>
                    <a:pt x="189" y="125"/>
                  </a:cubicBezTo>
                  <a:cubicBezTo>
                    <a:pt x="189" y="167"/>
                    <a:pt x="152" y="175"/>
                    <a:pt x="148" y="211"/>
                  </a:cubicBezTo>
                  <a:cubicBezTo>
                    <a:pt x="151" y="211"/>
                    <a:pt x="154" y="214"/>
                    <a:pt x="154" y="218"/>
                  </a:cubicBezTo>
                  <a:close/>
                  <a:moveTo>
                    <a:pt x="107" y="76"/>
                  </a:moveTo>
                  <a:cubicBezTo>
                    <a:pt x="106" y="73"/>
                    <a:pt x="103" y="72"/>
                    <a:pt x="101" y="73"/>
                  </a:cubicBezTo>
                  <a:cubicBezTo>
                    <a:pt x="84" y="80"/>
                    <a:pt x="72" y="94"/>
                    <a:pt x="67" y="111"/>
                  </a:cubicBezTo>
                  <a:cubicBezTo>
                    <a:pt x="67" y="113"/>
                    <a:pt x="68" y="116"/>
                    <a:pt x="71" y="117"/>
                  </a:cubicBezTo>
                  <a:cubicBezTo>
                    <a:pt x="71" y="117"/>
                    <a:pt x="72" y="117"/>
                    <a:pt x="72" y="117"/>
                  </a:cubicBezTo>
                  <a:cubicBezTo>
                    <a:pt x="74" y="117"/>
                    <a:pt x="76" y="115"/>
                    <a:pt x="77" y="113"/>
                  </a:cubicBezTo>
                  <a:cubicBezTo>
                    <a:pt x="80" y="99"/>
                    <a:pt x="91" y="87"/>
                    <a:pt x="104" y="82"/>
                  </a:cubicBezTo>
                  <a:cubicBezTo>
                    <a:pt x="107" y="81"/>
                    <a:pt x="108" y="78"/>
                    <a:pt x="107" y="76"/>
                  </a:cubicBezTo>
                  <a:close/>
                </a:path>
              </a:pathLst>
            </a:custGeom>
            <a:solidFill>
              <a:srgbClr val="FFD52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Rectangle 67"/>
          <p:cNvSpPr/>
          <p:nvPr>
            <p:custDataLst>
              <p:tags r:id="rId10"/>
            </p:custDataLst>
          </p:nvPr>
        </p:nvSpPr>
        <p:spPr>
          <a:xfrm>
            <a:off x="1935331" y="2844739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>
            <p:custDataLst>
              <p:tags r:id="rId11"/>
            </p:custDataLst>
          </p:nvPr>
        </p:nvSpPr>
        <p:spPr>
          <a:xfrm>
            <a:off x="1892754" y="2382498"/>
            <a:ext cx="6096635" cy="1753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个人收获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1.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锻炼了使用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word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文档，制作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ppt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，从各个论文中汲取经验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的能力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2.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学习到了基本微电网优化方法，基本掌握数据处理与绘制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</p:txBody>
      </p:sp>
      <p:sp>
        <p:nvSpPr>
          <p:cNvPr id="25" name="Rectangle 67"/>
          <p:cNvSpPr/>
          <p:nvPr>
            <p:custDataLst>
              <p:tags r:id="rId12"/>
            </p:custDataLst>
          </p:nvPr>
        </p:nvSpPr>
        <p:spPr>
          <a:xfrm>
            <a:off x="1859864" y="4812687"/>
            <a:ext cx="465827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>
            <p:custDataLst>
              <p:tags r:id="rId13"/>
            </p:custDataLst>
          </p:nvPr>
        </p:nvSpPr>
        <p:spPr>
          <a:xfrm>
            <a:off x="1817287" y="4350446"/>
            <a:ext cx="5913755" cy="1337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实验不足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本实验仅仅讨论了基于典型日数据的年化估算，为基于年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/>
              </a:rPr>
              <a:t>情况做全年优化，存在局限性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afterEffect" p14:presetBounceEnd="5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1" fill="hold" nodeType="afterEffect" p14:presetBounceEnd="5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12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1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333461" y="0"/>
            <a:ext cx="7858539" cy="6858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50849" b="100000" l="2303" r="100000">
                        <a14:backgroundMark x1="28667" y1="91310" x2="28667" y2="913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" t="49686" r="-72" b="314"/>
          <a:stretch>
            <a:fillRect/>
          </a:stretch>
        </p:blipFill>
        <p:spPr>
          <a:xfrm>
            <a:off x="3043698" y="0"/>
            <a:ext cx="9148302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285" b="50000"/>
          <a:stretch>
            <a:fillRect/>
          </a:stretch>
        </p:blipFill>
        <p:spPr>
          <a:xfrm>
            <a:off x="0" y="0"/>
            <a:ext cx="4731026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167270" y="2171822"/>
            <a:ext cx="633453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dirty="0">
                <a:solidFill>
                  <a:srgbClr val="FFD521"/>
                </a:solidFill>
                <a:effectLst>
                  <a:outerShdw blurRad="50800" dist="38100" dir="5400000" algn="t" rotWithShape="0">
                    <a:schemeClr val="tx1">
                      <a:alpha val="40000"/>
                    </a:schemeClr>
                  </a:outerShdw>
                </a:effectLst>
                <a:latin typeface="汉仪铸字木头人W" panose="00020600040101010101" pitchFamily="18" charset="-122"/>
                <a:ea typeface="汉仪铸字木头人W" panose="00020600040101010101" pitchFamily="18" charset="-122"/>
              </a:rPr>
              <a:t>感谢观赏</a:t>
            </a:r>
            <a:endParaRPr lang="zh-CN" altLang="en-US" sz="6600" dirty="0">
              <a:solidFill>
                <a:srgbClr val="FFD521"/>
              </a:solidFill>
              <a:effectLst>
                <a:outerShdw blurRad="50800" dist="38100" dir="5400000" algn="t" rotWithShape="0">
                  <a:schemeClr val="tx1">
                    <a:alpha val="40000"/>
                  </a:schemeClr>
                </a:outerShdw>
              </a:effectLst>
              <a:latin typeface="汉仪铸字木头人W" panose="00020600040101010101" pitchFamily="18" charset="-122"/>
              <a:ea typeface="汉仪铸字木头人W" panose="00020600040101010101" pitchFamily="18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04592" y="3833815"/>
            <a:ext cx="5459895" cy="252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2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3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4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5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6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7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8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9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10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11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12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13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14.xml><?xml version="1.0" encoding="utf-8"?>
<p:tagLst xmlns:p="http://schemas.openxmlformats.org/presentationml/2006/main">
  <p:tag name="KSO_WM_DIAGRAM_VIRTUALLY_FRAME" val="{&quot;height&quot;:367.26094488188977,&quot;left&quot;:498.7392125984252,&quot;top&quot;:90.6955905511811,&quot;width&quot;:400.1518897637796}"/>
</p:tagLst>
</file>

<file path=ppt/tags/tag15.xml><?xml version="1.0" encoding="utf-8"?>
<p:tagLst xmlns:p="http://schemas.openxmlformats.org/presentationml/2006/main">
  <p:tag name="KSO_WM_DIAGRAM_VIRTUALLY_FRAME" val="{&quot;height&quot;:251.90236220472443,&quot;left&quot;:48.34322834645669,&quot;top&quot;:189.91291338582676,&quot;width&quot;:859.7244881889765}"/>
</p:tagLst>
</file>

<file path=ppt/tags/tag16.xml><?xml version="1.0" encoding="utf-8"?>
<p:tagLst xmlns:p="http://schemas.openxmlformats.org/presentationml/2006/main">
  <p:tag name="KSO_WM_DIAGRAM_VIRTUALLY_FRAME" val="{&quot;height&quot;:251.90236220472443,&quot;left&quot;:48.34322834645669,&quot;top&quot;:189.91291338582676,&quot;width&quot;:859.7244881889765}"/>
</p:tagLst>
</file>

<file path=ppt/tags/tag17.xml><?xml version="1.0" encoding="utf-8"?>
<p:tagLst xmlns:p="http://schemas.openxmlformats.org/presentationml/2006/main">
  <p:tag name="KSO_WM_DIAGRAM_VIRTUALLY_FRAME" val="{&quot;height&quot;:251.90236220472443,&quot;left&quot;:48.34322834645669,&quot;top&quot;:189.91291338582676,&quot;width&quot;:859.7244881889765}"/>
</p:tagLst>
</file>

<file path=ppt/tags/tag18.xml><?xml version="1.0" encoding="utf-8"?>
<p:tagLst xmlns:p="http://schemas.openxmlformats.org/presentationml/2006/main">
  <p:tag name="KSO_WM_DIAGRAM_VIRTUALLY_FRAME" val="{&quot;height&quot;:251.90236220472443,&quot;left&quot;:48.34322834645669,&quot;top&quot;:189.91291338582676,&quot;width&quot;:859.7244881889765}"/>
</p:tagLst>
</file>

<file path=ppt/tags/tag19.xml><?xml version="1.0" encoding="utf-8"?>
<p:tagLst xmlns:p="http://schemas.openxmlformats.org/presentationml/2006/main">
  <p:tag name="KSO_WM_DIAGRAM_VIRTUALLY_FRAME" val="{&quot;height&quot;:315.80236220472443,&quot;left&quot;:48.34322834645669,&quot;top&quot;:183.46291338582677,&quot;width&quot;:912.5886614173229}"/>
</p:tagLst>
</file>

<file path=ppt/tags/tag20.xml><?xml version="1.0" encoding="utf-8"?>
<p:tagLst xmlns:p="http://schemas.openxmlformats.org/presentationml/2006/main">
  <p:tag name="KSO_WM_DIAGRAM_VIRTUALLY_FRAME" val="{&quot;height&quot;:315.80236220472443,&quot;left&quot;:48.34322834645669,&quot;top&quot;:183.46291338582677,&quot;width&quot;:912.5886614173229}"/>
</p:tagLst>
</file>

<file path=ppt/tags/tag21.xml><?xml version="1.0" encoding="utf-8"?>
<p:tagLst xmlns:p="http://schemas.openxmlformats.org/presentationml/2006/main">
  <p:tag name="KSO_WM_DIAGRAM_VIRTUALLY_FRAME" val="{&quot;height&quot;:315.80236220472443,&quot;left&quot;:48.34322834645669,&quot;top&quot;:183.46291338582677,&quot;width&quot;:912.5886614173229}"/>
</p:tagLst>
</file>

<file path=ppt/tags/tag22.xml><?xml version="1.0" encoding="utf-8"?>
<p:tagLst xmlns:p="http://schemas.openxmlformats.org/presentationml/2006/main">
  <p:tag name="KSO_WM_DIAGRAM_VIRTUALLY_FRAME" val="{&quot;height&quot;:315.80236220472443,&quot;left&quot;:48.34322834645669,&quot;top&quot;:183.46291338582677,&quot;width&quot;:912.5886614173229}"/>
</p:tagLst>
</file>

<file path=ppt/tags/tag23.xml><?xml version="1.0" encoding="utf-8"?>
<p:tagLst xmlns:p="http://schemas.openxmlformats.org/presentationml/2006/main">
  <p:tag name="KSO_WM_DIAGRAM_VIRTUALLY_FRAME" val="{&quot;height&quot;:315.80236220472443,&quot;left&quot;:48.34322834645669,&quot;top&quot;:183.46291338582677,&quot;width&quot;:912.5886614173229}"/>
</p:tagLst>
</file>

<file path=ppt/tags/tag24.xml><?xml version="1.0" encoding="utf-8"?>
<p:tagLst xmlns:p="http://schemas.openxmlformats.org/presentationml/2006/main">
  <p:tag name="KSO_WM_DIAGRAM_VIRTUALLY_FRAME" val="{&quot;height&quot;:315.80236220472443,&quot;left&quot;:48.34322834645669,&quot;top&quot;:183.46291338582677,&quot;width&quot;:912.5886614173229}"/>
</p:tagLst>
</file>

<file path=ppt/tags/tag25.xml><?xml version="1.0" encoding="utf-8"?>
<p:tagLst xmlns:p="http://schemas.openxmlformats.org/presentationml/2006/main">
  <p:tag name="KSO_WM_DIAGRAM_VIRTUALLY_FRAME" val="{&quot;height&quot;:315.80236220472443,&quot;left&quot;:48.34322834645669,&quot;top&quot;:183.46291338582677,&quot;width&quot;:912.5886614173229}"/>
</p:tagLst>
</file>

<file path=ppt/tags/tag26.xml><?xml version="1.0" encoding="utf-8"?>
<p:tagLst xmlns:p="http://schemas.openxmlformats.org/presentationml/2006/main">
  <p:tag name="KSO_WM_DIAGRAM_VIRTUALLY_FRAME" val="{&quot;height&quot;:315.80236220472443,&quot;left&quot;:48.34322834645669,&quot;top&quot;:183.46291338582677,&quot;width&quot;:912.5886614173229}"/>
</p:tagLst>
</file>

<file path=ppt/tags/tag27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28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29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30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31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32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33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34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35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36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37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38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39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40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41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42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43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44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45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46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47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48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49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50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51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52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53.xml><?xml version="1.0" encoding="utf-8"?>
<p:tagLst xmlns:p="http://schemas.openxmlformats.org/presentationml/2006/main">
  <p:tag name="KSO_WM_DIAGRAM_VIRTUALLY_FRAME" val="{&quot;height&quot;:432.8787401574803,&quot;left&quot;:59.264094488188974,&quot;top&quot;:88.59645669291339,&quot;width&quot;:921.7094488188975}"/>
</p:tagLst>
</file>

<file path=ppt/tags/tag54.xml><?xml version="1.0" encoding="utf-8"?>
<p:tagLst xmlns:p="http://schemas.openxmlformats.org/presentationml/2006/main">
  <p:tag name="KSO_WM_DIAGRAM_VIRTUALLY_FRAME" val="{&quot;height&quot;:432.8787401574803,&quot;left&quot;:59.264094488188974,&quot;top&quot;:88.59645669291339,&quot;width&quot;:921.7094488188975}"/>
</p:tagLst>
</file>

<file path=ppt/tags/tag55.xml><?xml version="1.0" encoding="utf-8"?>
<p:tagLst xmlns:p="http://schemas.openxmlformats.org/presentationml/2006/main">
  <p:tag name="KSO_WM_DIAGRAM_VIRTUALLY_FRAME" val="{&quot;height&quot;:432.8787401574803,&quot;left&quot;:59.264094488188974,&quot;top&quot;:88.59645669291339,&quot;width&quot;:921.7094488188975}"/>
</p:tagLst>
</file>

<file path=ppt/tags/tag56.xml><?xml version="1.0" encoding="utf-8"?>
<p:tagLst xmlns:p="http://schemas.openxmlformats.org/presentationml/2006/main">
  <p:tag name="KSO_WM_DIAGRAM_VIRTUALLY_FRAME" val="{&quot;height&quot;:432.8787401574803,&quot;left&quot;:59.264094488188974,&quot;top&quot;:88.59645669291339,&quot;width&quot;:921.7094488188975}"/>
</p:tagLst>
</file>

<file path=ppt/tags/tag57.xml><?xml version="1.0" encoding="utf-8"?>
<p:tagLst xmlns:p="http://schemas.openxmlformats.org/presentationml/2006/main">
  <p:tag name="KSO_WM_DIAGRAM_VIRTUALLY_FRAME" val="{&quot;height&quot;:432.8787401574803,&quot;left&quot;:59.264094488188974,&quot;top&quot;:88.59645669291339,&quot;width&quot;:921.7094488188975}"/>
</p:tagLst>
</file>

<file path=ppt/tags/tag58.xml><?xml version="1.0" encoding="utf-8"?>
<p:tagLst xmlns:p="http://schemas.openxmlformats.org/presentationml/2006/main">
  <p:tag name="KSO_WM_DIAGRAM_VIRTUALLY_FRAME" val="{&quot;height&quot;:432.8787401574803,&quot;left&quot;:59.264094488188974,&quot;top&quot;:88.59645669291339,&quot;width&quot;:921.7094488188975}"/>
</p:tagLst>
</file>

<file path=ppt/tags/tag59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60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61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62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63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64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65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66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67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68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69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ags/tag70.xml><?xml version="1.0" encoding="utf-8"?>
<p:tagLst xmlns:p="http://schemas.openxmlformats.org/presentationml/2006/main">
  <p:tag name="KSO_WM_DIAGRAM_VIRTUALLY_FRAME" val="{&quot;height&quot;:239.6505511811024,&quot;left&quot;:74.08685039370079,&quot;top&quot;:187.59826771653542,&quot;width&quot;:445.094881889763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0">
    <a:dk1>
      <a:srgbClr val="000000"/>
    </a:dk1>
    <a:lt1>
      <a:srgbClr val="FFFFFF"/>
    </a:lt1>
    <a:dk2>
      <a:srgbClr val="44546A"/>
    </a:dk2>
    <a:lt2>
      <a:srgbClr val="E7E6E6"/>
    </a:lt2>
    <a:accent1>
      <a:srgbClr val="3875FF"/>
    </a:accent1>
    <a:accent2>
      <a:srgbClr val="FCBE00"/>
    </a:accent2>
    <a:accent3>
      <a:srgbClr val="73A1FF"/>
    </a:accent3>
    <a:accent4>
      <a:srgbClr val="6FD5FF"/>
    </a:accent4>
    <a:accent5>
      <a:srgbClr val="FC9400"/>
    </a:accent5>
    <a:accent6>
      <a:srgbClr val="0093F0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自定义 10">
    <a:dk1>
      <a:srgbClr val="000000"/>
    </a:dk1>
    <a:lt1>
      <a:srgbClr val="FFFFFF"/>
    </a:lt1>
    <a:dk2>
      <a:srgbClr val="44546A"/>
    </a:dk2>
    <a:lt2>
      <a:srgbClr val="E7E6E6"/>
    </a:lt2>
    <a:accent1>
      <a:srgbClr val="3875FF"/>
    </a:accent1>
    <a:accent2>
      <a:srgbClr val="FCBE00"/>
    </a:accent2>
    <a:accent3>
      <a:srgbClr val="73A1FF"/>
    </a:accent3>
    <a:accent4>
      <a:srgbClr val="6FD5FF"/>
    </a:accent4>
    <a:accent5>
      <a:srgbClr val="FC9400"/>
    </a:accent5>
    <a:accent6>
      <a:srgbClr val="0093F0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自定义 10">
    <a:dk1>
      <a:srgbClr val="000000"/>
    </a:dk1>
    <a:lt1>
      <a:srgbClr val="FFFFFF"/>
    </a:lt1>
    <a:dk2>
      <a:srgbClr val="44546A"/>
    </a:dk2>
    <a:lt2>
      <a:srgbClr val="E7E6E6"/>
    </a:lt2>
    <a:accent1>
      <a:srgbClr val="3875FF"/>
    </a:accent1>
    <a:accent2>
      <a:srgbClr val="FCBE00"/>
    </a:accent2>
    <a:accent3>
      <a:srgbClr val="73A1FF"/>
    </a:accent3>
    <a:accent4>
      <a:srgbClr val="6FD5FF"/>
    </a:accent4>
    <a:accent5>
      <a:srgbClr val="FC9400"/>
    </a:accent5>
    <a:accent6>
      <a:srgbClr val="0093F0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</Words>
  <Application>WPS 演示</Application>
  <PresentationFormat>宽屏</PresentationFormat>
  <Paragraphs>89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汉仪铸字木头人W</vt:lpstr>
      <vt:lpstr>微软雅黑</vt:lpstr>
      <vt:lpstr>微软雅黑 Light</vt:lpstr>
      <vt:lpstr>Calibri</vt:lpstr>
      <vt:lpstr>方正姚体</vt:lpstr>
      <vt:lpstr>Arial</vt:lpstr>
      <vt:lpstr>迷你简菱心</vt:lpstr>
      <vt:lpstr>Agency FB</vt:lpstr>
      <vt:lpstr>汉仪铸字苏打黑W</vt:lpstr>
      <vt:lpstr>黑体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WPS_1662457199</cp:lastModifiedBy>
  <cp:revision>8</cp:revision>
  <dcterms:created xsi:type="dcterms:W3CDTF">2018-12-29T06:08:00Z</dcterms:created>
  <dcterms:modified xsi:type="dcterms:W3CDTF">2026-10-04T14:04:07Z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KSOTemplateUUID">
    <vt:lpwstr>v1.0_mb_vjdj3ND4h+YH1OqKc+VkAg==</vt:lpwstr>
  </property>
  <property fmtid="{D5CDD505-2E9C-101B-9397-08002B2CF9AE}" pid="4" name="ICV">
    <vt:lpwstr>798E8B35624348A5ACA0C75C8799F35C_11</vt:lpwstr>
  </property>
</Properties>
</file>